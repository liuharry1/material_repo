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17" r:id="rId1"/>
  </p:sldMasterIdLst>
  <p:notesMasterIdLst>
    <p:notesMasterId r:id="rId25"/>
  </p:notesMasterIdLst>
  <p:sldIdLst>
    <p:sldId id="256" r:id="rId2"/>
    <p:sldId id="278" r:id="rId3"/>
    <p:sldId id="301" r:id="rId4"/>
    <p:sldId id="287" r:id="rId5"/>
    <p:sldId id="288" r:id="rId6"/>
    <p:sldId id="290" r:id="rId7"/>
    <p:sldId id="302" r:id="rId8"/>
    <p:sldId id="292" r:id="rId9"/>
    <p:sldId id="295" r:id="rId10"/>
    <p:sldId id="297" r:id="rId11"/>
    <p:sldId id="300" r:id="rId12"/>
    <p:sldId id="298" r:id="rId13"/>
    <p:sldId id="294" r:id="rId14"/>
    <p:sldId id="293" r:id="rId15"/>
    <p:sldId id="291" r:id="rId16"/>
    <p:sldId id="289" r:id="rId17"/>
    <p:sldId id="279" r:id="rId18"/>
    <p:sldId id="280" r:id="rId19"/>
    <p:sldId id="284" r:id="rId20"/>
    <p:sldId id="283" r:id="rId21"/>
    <p:sldId id="281" r:id="rId22"/>
    <p:sldId id="282" r:id="rId23"/>
    <p:sldId id="285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07" autoAdjust="0"/>
    <p:restoredTop sz="87466" autoAdjust="0"/>
  </p:normalViewPr>
  <p:slideViewPr>
    <p:cSldViewPr snapToGrid="0">
      <p:cViewPr varScale="1">
        <p:scale>
          <a:sx n="110" d="100"/>
          <a:sy n="110" d="100"/>
        </p:scale>
        <p:origin x="4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F047F2-EF06-411F-AFCA-9AECA3FD70F0}" type="datetimeFigureOut">
              <a:rPr lang="en-US" smtClean="0"/>
              <a:t>12/28/25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EBB3E2-00FC-4EBF-AE58-33286D8A9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57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anthropics</a:t>
            </a:r>
            <a:r>
              <a:rPr lang="en-US" dirty="0"/>
              <a:t>/skills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agentskills</a:t>
            </a:r>
            <a:r>
              <a:rPr lang="en-US" dirty="0"/>
              <a:t>/</a:t>
            </a:r>
            <a:r>
              <a:rPr lang="en-US" dirty="0" err="1"/>
              <a:t>agentskills</a:t>
            </a:r>
            <a:endParaRPr lang="en-US" dirty="0"/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EBB3E2-00FC-4EBF-AE58-33286D8A96E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3110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{</a:t>
            </a:r>
          </a:p>
          <a:p>
            <a:r>
              <a:rPr lang="en-US" dirty="0"/>
              <a:t>  "model": "</a:t>
            </a:r>
            <a:r>
              <a:rPr lang="en-US" dirty="0" err="1"/>
              <a:t>qwen</a:t>
            </a:r>
            <a:r>
              <a:rPr lang="en-US" dirty="0"/>
              <a:t>-plus",</a:t>
            </a:r>
          </a:p>
          <a:p>
            <a:r>
              <a:rPr lang="en-US" dirty="0"/>
              <a:t>  "messages": [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      "role": "system",</a:t>
            </a:r>
          </a:p>
          <a:p>
            <a:r>
              <a:rPr lang="en-US" dirty="0"/>
              <a:t>      "content": "You are an intelligent knowledge assistant. For any uncertain information, search the knowledge base first.\n\n**Core Principles:**\n- Always use the search tool for specific questions - don't rely on pre-trained knowledge\n- Perform multiple searches with different keywords if needed\n\n**Response Guidelines:**\n- Answer based on retrieved documents, use [1], [2] for citations\n- **Images:** When results contain Markdown images ![alt](</a:t>
            </a:r>
            <a:r>
              <a:rPr lang="en-US" dirty="0" err="1"/>
              <a:t>url</a:t>
            </a:r>
            <a:r>
              <a:rPr lang="en-US" dirty="0"/>
              <a:t>), include them directly - don't describe, just embed\n- Reply in the user's language\n- If no relevant information found, honestly inform the user\n- Do NOT add a \"References:\" section\n"</a:t>
            </a:r>
          </a:p>
          <a:p>
            <a:r>
              <a:rPr lang="en-US" dirty="0"/>
              <a:t>    },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      "role": "user",</a:t>
            </a:r>
          </a:p>
          <a:p>
            <a:r>
              <a:rPr lang="en-US" dirty="0"/>
              <a:t>      "content": "</a:t>
            </a:r>
            <a:r>
              <a:rPr lang="zh-CN" altLang="en-US" dirty="0"/>
              <a:t>刘浩是干什么的？</a:t>
            </a:r>
            <a:r>
              <a:rPr lang="en-US" altLang="zh-CN" dirty="0"/>
              <a:t>"</a:t>
            </a:r>
          </a:p>
          <a:p>
            <a:r>
              <a:rPr lang="en-US" altLang="zh-CN" dirty="0"/>
              <a:t>    }</a:t>
            </a:r>
          </a:p>
          <a:p>
            <a:r>
              <a:rPr lang="en-US" altLang="zh-CN" dirty="0"/>
              <a:t>  ],</a:t>
            </a:r>
          </a:p>
          <a:p>
            <a:r>
              <a:rPr lang="en-US" altLang="zh-CN" dirty="0"/>
              <a:t>  "</a:t>
            </a:r>
            <a:r>
              <a:rPr lang="en-US" dirty="0"/>
              <a:t>functions": [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      "name": "</a:t>
            </a:r>
            <a:r>
              <a:rPr lang="en-US" dirty="0" err="1"/>
              <a:t>search_memory_test_knowledge</a:t>
            </a:r>
            <a:r>
              <a:rPr lang="en-US" dirty="0"/>
              <a:t>",</a:t>
            </a:r>
          </a:p>
          <a:p>
            <a:r>
              <a:rPr lang="en-US" dirty="0"/>
              <a:t>      "description": "Search the knowledge base for various information: personal profiles, positions, work experience, preferences, technical documents, project information, etc.\n\n**Use Cases:** \n- When user asks about any information you are uncertain about\n- Query specific person's information (position, experience, preferences, etc.)\n- Find technical documents, operation guides, project materials\n- Any knowledge that needs verification or supplementation\n\n**Query Tips:**\n- Extract core keywords for searching\n- Provide multiple query terms for more comprehensive results\n- If search results are insufficient, retry with different keywords\n",</a:t>
            </a:r>
          </a:p>
          <a:p>
            <a:r>
              <a:rPr lang="en-US" dirty="0"/>
              <a:t>      "parameters": {</a:t>
            </a:r>
          </a:p>
          <a:p>
            <a:r>
              <a:rPr lang="en-US" dirty="0"/>
              <a:t>        "type": "object",</a:t>
            </a:r>
          </a:p>
          <a:p>
            <a:r>
              <a:rPr lang="en-US" dirty="0"/>
              <a:t>        "properties": {</a:t>
            </a:r>
          </a:p>
          <a:p>
            <a:r>
              <a:rPr lang="en-US" dirty="0"/>
              <a:t>          "queries": {</a:t>
            </a:r>
          </a:p>
          <a:p>
            <a:r>
              <a:rPr lang="en-US" dirty="0"/>
              <a:t>            "type": "array",</a:t>
            </a:r>
          </a:p>
          <a:p>
            <a:r>
              <a:rPr lang="en-US" dirty="0"/>
              <a:t>            "items": {</a:t>
            </a:r>
          </a:p>
          <a:p>
            <a:r>
              <a:rPr lang="en-US" dirty="0"/>
              <a:t>              "type": "string"</a:t>
            </a:r>
          </a:p>
          <a:p>
            <a:r>
              <a:rPr lang="en-US" dirty="0"/>
              <a:t>            },</a:t>
            </a:r>
          </a:p>
          <a:p>
            <a:r>
              <a:rPr lang="en-US" dirty="0"/>
              <a:t>            "description": "List of 2-3 search queries covering different aspects of the question. Each query should be 2-10 words and explore different angles (configuration, troubleshooting, documentation, error codes, etc.)."</a:t>
            </a:r>
          </a:p>
          <a:p>
            <a:r>
              <a:rPr lang="en-US" dirty="0"/>
              <a:t>          }</a:t>
            </a:r>
          </a:p>
          <a:p>
            <a:r>
              <a:rPr lang="en-US" dirty="0"/>
              <a:t>        },</a:t>
            </a:r>
          </a:p>
          <a:p>
            <a:r>
              <a:rPr lang="en-US" dirty="0"/>
              <a:t>        "required": [</a:t>
            </a:r>
          </a:p>
          <a:p>
            <a:r>
              <a:rPr lang="en-US" dirty="0"/>
              <a:t>          "queries"</a:t>
            </a:r>
          </a:p>
          <a:p>
            <a:r>
              <a:rPr lang="en-US" dirty="0"/>
              <a:t>        ]</a:t>
            </a:r>
          </a:p>
          <a:p>
            <a:r>
              <a:rPr lang="en-US" dirty="0"/>
              <a:t>     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],</a:t>
            </a:r>
          </a:p>
          <a:p>
            <a:r>
              <a:rPr lang="en-US" dirty="0"/>
              <a:t>  "</a:t>
            </a:r>
            <a:r>
              <a:rPr lang="en-US" dirty="0" err="1"/>
              <a:t>function_call</a:t>
            </a:r>
            <a:r>
              <a:rPr lang="en-US" dirty="0"/>
              <a:t>": "auto"</a:t>
            </a:r>
          </a:p>
          <a:p>
            <a:r>
              <a:rPr lang="en-US" dirty="0"/>
              <a:t>}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EBB3E2-00FC-4EBF-AE58-33286D8A96E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29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{</a:t>
            </a:r>
          </a:p>
          <a:p>
            <a:r>
              <a:rPr lang="en-US" dirty="0"/>
              <a:t>  "model": "</a:t>
            </a:r>
            <a:r>
              <a:rPr lang="en-US" dirty="0" err="1"/>
              <a:t>qwen</a:t>
            </a:r>
            <a:r>
              <a:rPr lang="en-US" dirty="0"/>
              <a:t>-plus",</a:t>
            </a:r>
          </a:p>
          <a:p>
            <a:r>
              <a:rPr lang="en-US" dirty="0"/>
              <a:t>  "messages": [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      "role": "system",</a:t>
            </a:r>
          </a:p>
          <a:p>
            <a:r>
              <a:rPr lang="en-US" dirty="0"/>
              <a:t>      "content": "You are an intelligent knowledge assistant. For any uncertain information, search the knowledge base first.\n\n**Core Principles:**\n- Always use the search tool for specific questions - don't rely on pre-trained knowledge\n- Perform multiple searches with different keywords if needed\n\n**Response Guidelines:**\n- Answer based on retrieved documents, use [1], [2] for citations\n- **Images:** When results contain Markdown images ![alt](</a:t>
            </a:r>
            <a:r>
              <a:rPr lang="en-US" dirty="0" err="1"/>
              <a:t>url</a:t>
            </a:r>
            <a:r>
              <a:rPr lang="en-US" dirty="0"/>
              <a:t>), include them directly - don't describe, just embed\n- Reply in the user's language\n- If no relevant information found, honestly inform the user\n- Do NOT add a \"References:\" section\n"</a:t>
            </a:r>
          </a:p>
          <a:p>
            <a:r>
              <a:rPr lang="en-US" dirty="0"/>
              <a:t>    },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      "role": "user",</a:t>
            </a:r>
          </a:p>
          <a:p>
            <a:r>
              <a:rPr lang="en-US" dirty="0"/>
              <a:t>      "content": "</a:t>
            </a:r>
            <a:r>
              <a:rPr lang="zh-CN" altLang="en-US" dirty="0"/>
              <a:t>刘浩是干什么的？</a:t>
            </a:r>
            <a:r>
              <a:rPr lang="en-US" altLang="zh-CN" dirty="0"/>
              <a:t>"</a:t>
            </a:r>
          </a:p>
          <a:p>
            <a:r>
              <a:rPr lang="en-US" altLang="zh-CN" dirty="0"/>
              <a:t>    }</a:t>
            </a:r>
          </a:p>
          <a:p>
            <a:r>
              <a:rPr lang="en-US" altLang="zh-CN" dirty="0"/>
              <a:t>  ],</a:t>
            </a:r>
          </a:p>
          <a:p>
            <a:r>
              <a:rPr lang="en-US" altLang="zh-CN" dirty="0"/>
              <a:t>  "</a:t>
            </a:r>
            <a:r>
              <a:rPr lang="en-US" dirty="0"/>
              <a:t>functions": [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      "name": "</a:t>
            </a:r>
            <a:r>
              <a:rPr lang="en-US" dirty="0" err="1"/>
              <a:t>search_memory_test_knowledge</a:t>
            </a:r>
            <a:r>
              <a:rPr lang="en-US" dirty="0"/>
              <a:t>",</a:t>
            </a:r>
          </a:p>
          <a:p>
            <a:r>
              <a:rPr lang="en-US" dirty="0"/>
              <a:t>      "description": "Search the knowledge base for various information: personal profiles, positions, work experience, preferences, technical documents, project information, etc.\n\n**Use Cases:** \n- When user asks about any information you are uncertain about\n- Query specific person's information (position, experience, preferences, etc.)\n- Find technical documents, operation guides, project materials\n- Any knowledge that needs verification or supplementation\n\n**Query Tips:**\n- Extract core keywords for searching\n- Provide multiple query terms for more comprehensive results\n- If search results are insufficient, retry with different keywords\n",</a:t>
            </a:r>
          </a:p>
          <a:p>
            <a:r>
              <a:rPr lang="en-US" dirty="0"/>
              <a:t>      "parameters": {</a:t>
            </a:r>
          </a:p>
          <a:p>
            <a:r>
              <a:rPr lang="en-US" dirty="0"/>
              <a:t>        "type": "object",</a:t>
            </a:r>
          </a:p>
          <a:p>
            <a:r>
              <a:rPr lang="en-US" dirty="0"/>
              <a:t>        "properties": {</a:t>
            </a:r>
          </a:p>
          <a:p>
            <a:r>
              <a:rPr lang="en-US" dirty="0"/>
              <a:t>          "queries": {</a:t>
            </a:r>
          </a:p>
          <a:p>
            <a:r>
              <a:rPr lang="en-US" dirty="0"/>
              <a:t>            "type": "array",</a:t>
            </a:r>
          </a:p>
          <a:p>
            <a:r>
              <a:rPr lang="en-US" dirty="0"/>
              <a:t>            "items": {</a:t>
            </a:r>
          </a:p>
          <a:p>
            <a:r>
              <a:rPr lang="en-US" dirty="0"/>
              <a:t>              "type": "string"</a:t>
            </a:r>
          </a:p>
          <a:p>
            <a:r>
              <a:rPr lang="en-US" dirty="0"/>
              <a:t>            },</a:t>
            </a:r>
          </a:p>
          <a:p>
            <a:r>
              <a:rPr lang="en-US" dirty="0"/>
              <a:t>            "description": "List of 2-3 search queries covering different aspects of the question. Each query should be 2-10 words and explore different angles (configuration, troubleshooting, documentation, error codes, etc.)."</a:t>
            </a:r>
          </a:p>
          <a:p>
            <a:r>
              <a:rPr lang="en-US" dirty="0"/>
              <a:t>          }</a:t>
            </a:r>
          </a:p>
          <a:p>
            <a:r>
              <a:rPr lang="en-US" dirty="0"/>
              <a:t>        },</a:t>
            </a:r>
          </a:p>
          <a:p>
            <a:r>
              <a:rPr lang="en-US" dirty="0"/>
              <a:t>        "required": [</a:t>
            </a:r>
          </a:p>
          <a:p>
            <a:r>
              <a:rPr lang="en-US" dirty="0"/>
              <a:t>          "queries"</a:t>
            </a:r>
          </a:p>
          <a:p>
            <a:r>
              <a:rPr lang="en-US" dirty="0"/>
              <a:t>        ]</a:t>
            </a:r>
          </a:p>
          <a:p>
            <a:r>
              <a:rPr lang="en-US" dirty="0"/>
              <a:t>     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],</a:t>
            </a:r>
          </a:p>
          <a:p>
            <a:r>
              <a:rPr lang="en-US" dirty="0"/>
              <a:t>  "</a:t>
            </a:r>
            <a:r>
              <a:rPr lang="en-US" dirty="0" err="1"/>
              <a:t>function_call</a:t>
            </a:r>
            <a:r>
              <a:rPr lang="en-US" dirty="0"/>
              <a:t>": "auto"</a:t>
            </a:r>
          </a:p>
          <a:p>
            <a:r>
              <a:rPr lang="en-US" dirty="0"/>
              <a:t>}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EBB3E2-00FC-4EBF-AE58-33286D8A96E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863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anthropics</a:t>
            </a:r>
            <a:r>
              <a:rPr lang="en-US" dirty="0"/>
              <a:t>/skills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agentskills</a:t>
            </a:r>
            <a:r>
              <a:rPr lang="en-US" dirty="0"/>
              <a:t>/</a:t>
            </a:r>
            <a:r>
              <a:rPr lang="en-US" dirty="0" err="1"/>
              <a:t>agentskills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anthropics</a:t>
            </a:r>
            <a:r>
              <a:rPr lang="en-US" dirty="0"/>
              <a:t>/skills/tree/main</a:t>
            </a:r>
          </a:p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www.anthropic.com</a:t>
            </a:r>
            <a:r>
              <a:rPr lang="en-US" dirty="0"/>
              <a:t>/engineering/equipping-agents-for-the-real-world-with-agent-skills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EBB3E2-00FC-4EBF-AE58-33286D8A96E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1276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support.claude.com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/articles/12512198-how-to-create-custom-skills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anthropics</a:t>
            </a:r>
            <a:r>
              <a:rPr lang="en-US" dirty="0"/>
              <a:t>/skills/tree/main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EBB3E2-00FC-4EBF-AE58-33286D8A96E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217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EBB3E2-00FC-4EBF-AE58-33286D8A96E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729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E9A56-284A-43C4-96E2-707E8A1EA85B}" type="datetimeFigureOut">
              <a:rPr lang="en-US" smtClean="0"/>
              <a:t>12/28/25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856E2-4293-4F61-8AF1-B8578369C6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17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E9A56-284A-43C4-96E2-707E8A1EA85B}" type="datetimeFigureOut">
              <a:rPr lang="en-US" smtClean="0"/>
              <a:t>12/28/25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856E2-4293-4F61-8AF1-B8578369C6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029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E9A56-284A-43C4-96E2-707E8A1EA85B}" type="datetimeFigureOut">
              <a:rPr lang="en-US" smtClean="0"/>
              <a:t>12/28/25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856E2-4293-4F61-8AF1-B8578369C6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894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E9A56-284A-43C4-96E2-707E8A1EA85B}" type="datetimeFigureOut">
              <a:rPr lang="en-US" smtClean="0"/>
              <a:t>12/28/25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856E2-4293-4F61-8AF1-B8578369C6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104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E9A56-284A-43C4-96E2-707E8A1EA85B}" type="datetimeFigureOut">
              <a:rPr lang="en-US" smtClean="0"/>
              <a:t>12/28/25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856E2-4293-4F61-8AF1-B8578369C6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542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E9A56-284A-43C4-96E2-707E8A1EA85B}" type="datetimeFigureOut">
              <a:rPr lang="en-US" smtClean="0"/>
              <a:t>12/28/25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856E2-4293-4F61-8AF1-B8578369C6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637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E9A56-284A-43C4-96E2-707E8A1EA85B}" type="datetimeFigureOut">
              <a:rPr lang="en-US" smtClean="0"/>
              <a:t>12/28/25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856E2-4293-4F61-8AF1-B8578369C6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562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E9A56-284A-43C4-96E2-707E8A1EA85B}" type="datetimeFigureOut">
              <a:rPr lang="en-US" smtClean="0"/>
              <a:t>12/28/25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856E2-4293-4F61-8AF1-B8578369C6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534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E9A56-284A-43C4-96E2-707E8A1EA85B}" type="datetimeFigureOut">
              <a:rPr lang="en-US" smtClean="0"/>
              <a:t>12/28/25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856E2-4293-4F61-8AF1-B8578369C6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513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E9A56-284A-43C4-96E2-707E8A1EA85B}" type="datetimeFigureOut">
              <a:rPr lang="en-US" smtClean="0"/>
              <a:t>12/28/25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856E2-4293-4F61-8AF1-B8578369C6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597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E9A56-284A-43C4-96E2-707E8A1EA85B}" type="datetimeFigureOut">
              <a:rPr lang="en-US" smtClean="0"/>
              <a:t>12/28/25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856E2-4293-4F61-8AF1-B8578369C6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279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7E9A56-284A-43C4-96E2-707E8A1EA85B}" type="datetimeFigureOut">
              <a:rPr lang="en-US" smtClean="0"/>
              <a:t>12/28/25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5856E2-4293-4F61-8AF1-B8578369C6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59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18" r:id="rId1"/>
    <p:sldLayoutId id="2147484019" r:id="rId2"/>
    <p:sldLayoutId id="2147484020" r:id="rId3"/>
    <p:sldLayoutId id="2147484021" r:id="rId4"/>
    <p:sldLayoutId id="2147484022" r:id="rId5"/>
    <p:sldLayoutId id="2147484023" r:id="rId6"/>
    <p:sldLayoutId id="2147484024" r:id="rId7"/>
    <p:sldLayoutId id="2147484025" r:id="rId8"/>
    <p:sldLayoutId id="2147484026" r:id="rId9"/>
    <p:sldLayoutId id="2147484027" r:id="rId10"/>
    <p:sldLayoutId id="214748402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B35E6-6578-DC50-5C94-A9300883A6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Agent Skills Intro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2340C0-A250-A1B6-1EAB-1F91D81055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88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3CE15-A79B-3709-8F57-35D4CFFFC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381" y="121185"/>
            <a:ext cx="10620260" cy="1002535"/>
          </a:xfrm>
        </p:spPr>
        <p:txBody>
          <a:bodyPr>
            <a:normAutofit/>
          </a:bodyPr>
          <a:lstStyle/>
          <a:p>
            <a:r>
              <a:rPr lang="en-US" b="1" dirty="0"/>
              <a:t>Function Calls</a:t>
            </a:r>
            <a:r>
              <a:rPr lang="en-US" sz="1800" b="1" dirty="0"/>
              <a:t>-- </a:t>
            </a:r>
            <a:r>
              <a:rPr lang="en-US" sz="2000" b="1" i="1" dirty="0"/>
              <a:t>Giving Models the Ability to Act</a:t>
            </a:r>
            <a:endParaRPr lang="en-US" sz="2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090BB-55E5-57DA-4C95-3C456F9B5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364" y="1123720"/>
            <a:ext cx="5781778" cy="54533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What are Function Calls?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A mechanism for LLMs to invoke external functions or tools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Enables models to go beyond text generation</a:t>
            </a:r>
          </a:p>
          <a:p>
            <a:pPr marL="0" indent="0">
              <a:buNone/>
            </a:pPr>
            <a:r>
              <a:rPr lang="en-US" b="1" dirty="0"/>
              <a:t>What Function Calls Enable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Call APIs (e.g. send email, query database)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Execute actions based on structured outputs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Integrate LLMs into real systems</a:t>
            </a:r>
          </a:p>
          <a:p>
            <a:pPr marL="0" indent="0">
              <a:buNone/>
            </a:pPr>
            <a:r>
              <a:rPr lang="en-US" b="1" dirty="0"/>
              <a:t>Key Value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Models can </a:t>
            </a:r>
            <a:r>
              <a:rPr lang="en-US" sz="1900" i="1" dirty="0"/>
              <a:t>act</a:t>
            </a:r>
            <a:r>
              <a:rPr lang="en-US" sz="1900" dirty="0"/>
              <a:t>, not just </a:t>
            </a:r>
            <a:r>
              <a:rPr lang="en-US" sz="1900" i="1" dirty="0"/>
              <a:t>respond</a:t>
            </a:r>
            <a:endParaRPr lang="en-US" sz="1900" dirty="0"/>
          </a:p>
          <a:p>
            <a:pPr marL="0" indent="0">
              <a:buNone/>
            </a:pPr>
            <a:r>
              <a:rPr lang="en-US" b="1" dirty="0"/>
              <a:t>Limitation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Function calls only define </a:t>
            </a:r>
            <a:r>
              <a:rPr lang="en-US" sz="1900" b="1" dirty="0"/>
              <a:t>what can be executed</a:t>
            </a:r>
            <a:endParaRPr lang="en-US" sz="19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They do not define </a:t>
            </a:r>
            <a:r>
              <a:rPr lang="en-US" sz="1900" b="1" dirty="0"/>
              <a:t>how tasks should be performed</a:t>
            </a:r>
            <a:endParaRPr lang="en-US" sz="1900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28" name="Picture 4" descr="Model Context Protocol (MCP) vs Function Calling: A Deep Dive into AI  Integration Architectures - MarkTechPost">
            <a:extLst>
              <a:ext uri="{FF2B5EF4-FFF2-40B4-BE49-F238E27FC236}">
                <a16:creationId xmlns:a16="http://schemas.microsoft.com/office/drawing/2014/main" id="{6148FAEA-8895-3374-7B0D-E3CD480F8D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1990" y="1123720"/>
            <a:ext cx="6130646" cy="2841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1659C89-C8EB-26FE-1DF0-91514F4A35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4804" y="4118475"/>
            <a:ext cx="3642175" cy="2458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872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3CE15-A79B-3709-8F57-35D4CFFFC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381" y="121185"/>
            <a:ext cx="10620260" cy="1002535"/>
          </a:xfrm>
        </p:spPr>
        <p:txBody>
          <a:bodyPr>
            <a:normAutofit/>
          </a:bodyPr>
          <a:lstStyle/>
          <a:p>
            <a:r>
              <a:rPr lang="en-US" b="1" dirty="0"/>
              <a:t>Function Calls</a:t>
            </a:r>
            <a:r>
              <a:rPr lang="en-US" sz="1800" b="1" dirty="0"/>
              <a:t>-- </a:t>
            </a:r>
            <a:r>
              <a:rPr lang="en-US" sz="2000" b="1" i="1" dirty="0"/>
              <a:t>Giving Models the Ability to Act</a:t>
            </a:r>
            <a:endParaRPr lang="en-US" sz="20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84D4575-13E4-CD93-7A6E-82FEF08523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47777"/>
            <a:ext cx="5899230" cy="25007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8723BD-A537-A5B7-988D-61DEDEFD7A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40" y="1747777"/>
            <a:ext cx="4531576" cy="51102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297AFC7-A5AD-20F9-8D70-A7D1100FBAA5}"/>
              </a:ext>
            </a:extLst>
          </p:cNvPr>
          <p:cNvSpPr txBox="1"/>
          <p:nvPr/>
        </p:nvSpPr>
        <p:spPr>
          <a:xfrm>
            <a:off x="569536" y="1251082"/>
            <a:ext cx="4870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System prompt + messges + function definations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CF0664-532B-F0A7-5EDD-54CC42AD3F41}"/>
              </a:ext>
            </a:extLst>
          </p:cNvPr>
          <p:cNvSpPr txBox="1"/>
          <p:nvPr/>
        </p:nvSpPr>
        <p:spPr>
          <a:xfrm>
            <a:off x="6096000" y="1251082"/>
            <a:ext cx="2131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Llm</a:t>
            </a:r>
            <a:r>
              <a:rPr lang="en-US" dirty="0"/>
              <a:t> =&gt; F</a:t>
            </a:r>
            <a:r>
              <a:rPr lang="en-CN" dirty="0"/>
              <a:t>unction calls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9F8A009E-6D57-5BD8-EC98-A7E3CEE5DB66}"/>
              </a:ext>
            </a:extLst>
          </p:cNvPr>
          <p:cNvSpPr/>
          <p:nvPr/>
        </p:nvSpPr>
        <p:spPr>
          <a:xfrm>
            <a:off x="5335929" y="2906303"/>
            <a:ext cx="760071" cy="369332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07475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3CE15-A79B-3709-8F57-35D4CFFFC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237" y="121185"/>
            <a:ext cx="10620260" cy="1002535"/>
          </a:xfrm>
        </p:spPr>
        <p:txBody>
          <a:bodyPr>
            <a:normAutofit/>
          </a:bodyPr>
          <a:lstStyle/>
          <a:p>
            <a:r>
              <a:rPr lang="en-US" b="1" dirty="0"/>
              <a:t>MCP</a:t>
            </a:r>
            <a:r>
              <a:rPr lang="en-US" sz="1800" b="1" dirty="0"/>
              <a:t>-- (Model Context Protocol)</a:t>
            </a:r>
            <a:r>
              <a:rPr lang="en-US" sz="1800" b="1" i="1" dirty="0"/>
              <a:t> Standardizing How Models Connect to the World</a:t>
            </a:r>
            <a:endParaRPr lang="en-US" sz="18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090BB-55E5-57DA-4C95-3C456F9B5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4237" y="1123720"/>
            <a:ext cx="5618602" cy="54533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What is MCP?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A standardized protocol for connecting models to tools, data, and services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Focuses on safety, consistency, and interoperability</a:t>
            </a:r>
          </a:p>
          <a:p>
            <a:pPr marL="0" indent="0">
              <a:buNone/>
            </a:pPr>
            <a:r>
              <a:rPr lang="en-US" b="1" dirty="0"/>
              <a:t>What MCP Solves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Tool discovery and registration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Secure access to external systems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Decoupling agents from tool implementations</a:t>
            </a:r>
          </a:p>
          <a:p>
            <a:pPr marL="0" indent="0">
              <a:buNone/>
            </a:pPr>
            <a:r>
              <a:rPr lang="en-US" b="1" dirty="0"/>
              <a:t>Key Value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A universal “connector layer” for agents</a:t>
            </a:r>
          </a:p>
          <a:p>
            <a:pPr marL="0" indent="0">
              <a:buNone/>
            </a:pPr>
            <a:r>
              <a:rPr lang="en-US" b="1" dirty="0"/>
              <a:t>Still Missing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MCP provides access, </a:t>
            </a:r>
            <a:r>
              <a:rPr lang="en-US" sz="1800" b="1" dirty="0"/>
              <a:t>not decision-making or strategy</a:t>
            </a:r>
            <a:endParaRPr lang="en-US" sz="1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AC1F8A-9D7C-30F8-53FE-EC4F72FB82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023" y="1073433"/>
            <a:ext cx="5827923" cy="297853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DA811E-5895-05FA-727F-1F8A522140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022" y="4170755"/>
            <a:ext cx="5827923" cy="2580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716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3CE15-A79B-3709-8F57-35D4CFFFC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029" y="121185"/>
            <a:ext cx="10620260" cy="1002535"/>
          </a:xfrm>
        </p:spPr>
        <p:txBody>
          <a:bodyPr/>
          <a:lstStyle/>
          <a:p>
            <a:r>
              <a:rPr lang="en-US" dirty="0"/>
              <a:t>The Problem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090BB-55E5-57DA-4C95-3C456F9B5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029" y="1123721"/>
            <a:ext cx="10939749" cy="54533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dirty="0"/>
              <a:t>Why Tools and MCP Are Not Enough</a:t>
            </a:r>
            <a:endParaRPr lang="en-US" b="1" dirty="0"/>
          </a:p>
          <a:p>
            <a:pPr marL="0" indent="0">
              <a:buNone/>
            </a:pPr>
            <a:r>
              <a:rPr lang="en-US" b="1" dirty="0"/>
              <a:t>Current Pain Points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Agents have tools but lack consistent behavior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Same task produces different results every time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b="1" dirty="0"/>
              <a:t>Prompts grow long</a:t>
            </a:r>
            <a:r>
              <a:rPr lang="en-US" sz="1800" dirty="0"/>
              <a:t> and hard to maintain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Expert knowledge lives only in prompts or people’s heads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Multi-step tasks are brittle and error-prone</a:t>
            </a:r>
          </a:p>
          <a:p>
            <a:pPr marL="0" indent="0">
              <a:buNone/>
            </a:pPr>
            <a:r>
              <a:rPr lang="en-US" b="1" dirty="0"/>
              <a:t>Root Cause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We have </a:t>
            </a:r>
            <a:r>
              <a:rPr lang="en-US" sz="1800" b="1" dirty="0"/>
              <a:t>capabilities</a:t>
            </a:r>
            <a:r>
              <a:rPr lang="en-US" sz="1800" dirty="0"/>
              <a:t>, but not </a:t>
            </a:r>
            <a:r>
              <a:rPr lang="en-US" sz="1800" b="1" dirty="0"/>
              <a:t>expert workflows</a:t>
            </a:r>
            <a:endParaRPr lang="en-US" sz="1800" dirty="0"/>
          </a:p>
          <a:p>
            <a:pPr marL="0" indent="0">
              <a:buNone/>
            </a:pPr>
            <a:r>
              <a:rPr lang="en-US" b="1" dirty="0"/>
              <a:t>Conclusion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There is a missing layer between tools and execution</a:t>
            </a:r>
          </a:p>
        </p:txBody>
      </p:sp>
    </p:spTree>
    <p:extLst>
      <p:ext uri="{BB962C8B-B14F-4D97-AF65-F5344CB8AC3E}">
        <p14:creationId xmlns:p14="http://schemas.microsoft.com/office/powerpoint/2010/main" val="3796130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3CE15-A79B-3709-8F57-35D4CFFFC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641" y="121185"/>
            <a:ext cx="10620260" cy="1002535"/>
          </a:xfrm>
        </p:spPr>
        <p:txBody>
          <a:bodyPr/>
          <a:lstStyle/>
          <a:p>
            <a:r>
              <a:rPr lang="en-US" dirty="0"/>
              <a:t>Agent Skills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090BB-55E5-57DA-4C95-3C456F9B5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641" y="1123720"/>
            <a:ext cx="5844518" cy="545335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What Are Agent Skills?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100" dirty="0"/>
              <a:t>Reusable, structured definitions of </a:t>
            </a:r>
            <a:r>
              <a:rPr lang="en-US" sz="2100" i="1" dirty="0"/>
              <a:t>how</a:t>
            </a:r>
            <a:r>
              <a:rPr lang="en-US" sz="2100" dirty="0"/>
              <a:t> to perform a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00" dirty="0"/>
              <a:t>Encode expert knowledge, best practices, and constraints</a:t>
            </a:r>
          </a:p>
          <a:p>
            <a:pPr marL="0" indent="0">
              <a:buNone/>
            </a:pPr>
            <a:r>
              <a:rPr lang="en-US" b="1" dirty="0"/>
              <a:t>What Skills Contain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100" dirty="0"/>
              <a:t>Task-specific workflows and step ordering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00" dirty="0"/>
              <a:t>Decision rules and guardrails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00" dirty="0"/>
              <a:t>Output structure and quality standards</a:t>
            </a:r>
          </a:p>
          <a:p>
            <a:pPr marL="0" indent="0">
              <a:buNone/>
            </a:pPr>
            <a:r>
              <a:rPr lang="en-US" b="1" dirty="0"/>
              <a:t>What Skills Are NOT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100" dirty="0"/>
              <a:t>Not APIs or tools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00" dirty="0"/>
              <a:t>Not executable code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00" dirty="0"/>
              <a:t>Not one-off prompts</a:t>
            </a:r>
          </a:p>
          <a:p>
            <a:pPr marL="0" indent="0">
              <a:buNone/>
            </a:pPr>
            <a:r>
              <a:rPr lang="en-US" b="1" dirty="0"/>
              <a:t>Role in the Architecture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Skills guide </a:t>
            </a:r>
            <a:r>
              <a:rPr lang="en-US" sz="1900" i="1" dirty="0"/>
              <a:t>behavior</a:t>
            </a:r>
            <a:endParaRPr lang="en-US" sz="19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Tools execute </a:t>
            </a:r>
            <a:r>
              <a:rPr lang="en-US" sz="1900" i="1" dirty="0"/>
              <a:t>actions</a:t>
            </a:r>
            <a:endParaRPr lang="en-US" sz="19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169E3B-8C66-C66E-8826-D35DDAB742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7022" y="280930"/>
            <a:ext cx="6444978" cy="36555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7C1851-1E42-1BBD-C1D4-B2BACB7423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018" y="4020208"/>
            <a:ext cx="3428281" cy="27166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35A987D-A908-3DD7-E534-A56D3339E9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2838" y="4020207"/>
            <a:ext cx="4179395" cy="2716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205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47972-FBB4-8FCD-6C28-2F3AD26E8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317" y="145207"/>
            <a:ext cx="10515600" cy="942814"/>
          </a:xfrm>
        </p:spPr>
        <p:txBody>
          <a:bodyPr/>
          <a:lstStyle/>
          <a:p>
            <a:r>
              <a:rPr lang="en-US" dirty="0"/>
              <a:t>how-to-create-custom-skills</a:t>
            </a:r>
            <a:endParaRPr lang="en-C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CFA81F-7749-855E-239D-3DCCE43C77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92249"/>
            <a:ext cx="4952000" cy="28714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AF97406-E1ED-A747-AA20-E154D68D55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9613" y="1214369"/>
            <a:ext cx="7122387" cy="4429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553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3CE15-A79B-3709-8F57-35D4CFFFC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029" y="121185"/>
            <a:ext cx="10620260" cy="1002535"/>
          </a:xfrm>
        </p:spPr>
        <p:txBody>
          <a:bodyPr/>
          <a:lstStyle/>
          <a:p>
            <a:r>
              <a:rPr lang="en-US" dirty="0"/>
              <a:t>How Skills Fit Together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090BB-55E5-57DA-4C95-3C456F9B5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029" y="1123721"/>
            <a:ext cx="10939749" cy="54533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Layered Architecture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Function Calls: execute actions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MCP: connect tools and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Agent Skills: define expert behavior</a:t>
            </a:r>
          </a:p>
          <a:p>
            <a:pPr marL="0" indent="0">
              <a:buNone/>
            </a:pPr>
            <a:r>
              <a:rPr lang="en-US" b="1" dirty="0"/>
              <a:t>Simple Analogy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Tools = hands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MCP = toolbox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Skills = instructions from a senior expert</a:t>
            </a:r>
          </a:p>
        </p:txBody>
      </p:sp>
    </p:spTree>
    <p:extLst>
      <p:ext uri="{BB962C8B-B14F-4D97-AF65-F5344CB8AC3E}">
        <p14:creationId xmlns:p14="http://schemas.microsoft.com/office/powerpoint/2010/main" val="1447289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3CE15-A79B-3709-8F57-35D4CFFFC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029" y="121185"/>
            <a:ext cx="10620260" cy="1002535"/>
          </a:xfrm>
        </p:spPr>
        <p:txBody>
          <a:bodyPr/>
          <a:lstStyle/>
          <a:p>
            <a:r>
              <a:rPr lang="en-US" dirty="0"/>
              <a:t>Use Case 1: Weekly Status Reports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090BB-55E5-57DA-4C95-3C456F9B5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029" y="1123721"/>
            <a:ext cx="10939749" cy="54533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Without Skills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Inconsistent structure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Raw data dumping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900" dirty="0"/>
              <a:t>Variable tone and quality</a:t>
            </a:r>
          </a:p>
          <a:p>
            <a:pPr marL="0" indent="0">
              <a:buNone/>
            </a:pPr>
            <a:r>
              <a:rPr lang="en-US" b="1" dirty="0"/>
              <a:t>With Skills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Standardized report format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Clear summaries and priorities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Consistent, professional output</a:t>
            </a:r>
          </a:p>
          <a:p>
            <a:pPr marL="0" indent="0">
              <a:buNone/>
            </a:pPr>
            <a:r>
              <a:rPr lang="en-US" b="1" dirty="0"/>
              <a:t>Skill Defines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What data to include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How to summarize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How to structure the report</a:t>
            </a:r>
          </a:p>
        </p:txBody>
      </p:sp>
    </p:spTree>
    <p:extLst>
      <p:ext uri="{BB962C8B-B14F-4D97-AF65-F5344CB8AC3E}">
        <p14:creationId xmlns:p14="http://schemas.microsoft.com/office/powerpoint/2010/main" val="1923916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3CE15-A79B-3709-8F57-35D4CFFFC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029" y="121185"/>
            <a:ext cx="10620260" cy="1002535"/>
          </a:xfrm>
        </p:spPr>
        <p:txBody>
          <a:bodyPr/>
          <a:lstStyle/>
          <a:p>
            <a:r>
              <a:rPr lang="en-US" dirty="0"/>
              <a:t>Use Case 2: Code Review Agent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090BB-55E5-57DA-4C95-3C456F9B5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029" y="1123721"/>
            <a:ext cx="10939749" cy="54533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Problem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Superficial or inconsistent reviews</a:t>
            </a:r>
          </a:p>
          <a:p>
            <a:pPr marL="0" indent="0">
              <a:buNone/>
            </a:pPr>
            <a:r>
              <a:rPr lang="en-US" b="1" dirty="0"/>
              <a:t>Skill Enables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Ordered review process (correctness → security → performance)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Consistent feedback categories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Senior-engineer-level checklist</a:t>
            </a:r>
          </a:p>
          <a:p>
            <a:pPr marL="0" indent="0">
              <a:buNone/>
            </a:pPr>
            <a:r>
              <a:rPr lang="en-US" b="1" dirty="0"/>
              <a:t>Result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Higher quality and more reliable code reviews</a:t>
            </a:r>
          </a:p>
        </p:txBody>
      </p:sp>
    </p:spTree>
    <p:extLst>
      <p:ext uri="{BB962C8B-B14F-4D97-AF65-F5344CB8AC3E}">
        <p14:creationId xmlns:p14="http://schemas.microsoft.com/office/powerpoint/2010/main" val="31498433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D1894-7E53-E454-1719-4FABDC44A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281" y="42129"/>
            <a:ext cx="7479982" cy="1325563"/>
          </a:xfrm>
        </p:spPr>
        <p:txBody>
          <a:bodyPr/>
          <a:lstStyle/>
          <a:p>
            <a:r>
              <a:rPr lang="en-US" dirty="0"/>
              <a:t>Use Case 2: Code Review Agent</a:t>
            </a:r>
            <a:endParaRPr lang="en-C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04CC019-767D-A959-104F-CBD111AC6F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7816" y="141222"/>
            <a:ext cx="3837579" cy="6674649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510D90-BDE1-2842-7FE2-92D221C22E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7187" y="2977080"/>
            <a:ext cx="4717625" cy="37425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423DBA2-7042-02F3-16CE-A4262E81EC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43" y="1549481"/>
            <a:ext cx="5900351" cy="1331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17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3CE15-A79B-3709-8F57-35D4CFFFC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029" y="121185"/>
            <a:ext cx="10620260" cy="1002535"/>
          </a:xfrm>
        </p:spPr>
        <p:txBody>
          <a:bodyPr/>
          <a:lstStyle/>
          <a:p>
            <a:r>
              <a:rPr lang="en-US" dirty="0"/>
              <a:t>Use Case </a:t>
            </a:r>
            <a:r>
              <a:rPr lang="en-US" altLang="zh-CN" dirty="0"/>
              <a:t>3</a:t>
            </a:r>
            <a:r>
              <a:rPr lang="en-US" dirty="0"/>
              <a:t>: Customer Support &amp; Compliance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090BB-55E5-57DA-4C95-3C456F9B5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029" y="1123721"/>
            <a:ext cx="10939749" cy="54533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Skill Encodes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Business rules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Legal and compliance boundaries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Approved communication tone</a:t>
            </a:r>
          </a:p>
          <a:p>
            <a:pPr marL="0" indent="0">
              <a:buNone/>
            </a:pPr>
            <a:r>
              <a:rPr lang="en-US" b="1" dirty="0"/>
              <a:t>Outcome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Safer automation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Reduced risk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Predictable customer experience</a:t>
            </a:r>
          </a:p>
        </p:txBody>
      </p:sp>
    </p:spTree>
    <p:extLst>
      <p:ext uri="{BB962C8B-B14F-4D97-AF65-F5344CB8AC3E}">
        <p14:creationId xmlns:p14="http://schemas.microsoft.com/office/powerpoint/2010/main" val="42217937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3CE15-A79B-3709-8F57-35D4CFFFC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029" y="121185"/>
            <a:ext cx="10620260" cy="1002535"/>
          </a:xfrm>
        </p:spPr>
        <p:txBody>
          <a:bodyPr/>
          <a:lstStyle/>
          <a:p>
            <a:r>
              <a:rPr lang="en-US" dirty="0"/>
              <a:t>Key Takeaways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090BB-55E5-57DA-4C95-3C456F9B5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029" y="1123721"/>
            <a:ext cx="10939749" cy="54533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Summary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Function Calls enable actions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MCP standardizes access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Agent Skills define </a:t>
            </a:r>
            <a:r>
              <a:rPr lang="en-US" sz="1800" i="1" dirty="0"/>
              <a:t>expert behavior</a:t>
            </a:r>
            <a:endParaRPr lang="en-US" sz="1800" dirty="0"/>
          </a:p>
          <a:p>
            <a:pPr marL="0" indent="0">
              <a:buNone/>
            </a:pPr>
            <a:r>
              <a:rPr lang="en-US" b="1" dirty="0"/>
              <a:t>Core Message</a:t>
            </a:r>
            <a:endParaRPr lang="en-US" dirty="0"/>
          </a:p>
          <a:p>
            <a:r>
              <a:rPr lang="en-US" sz="1800" dirty="0"/>
              <a:t>Tools tell agents </a:t>
            </a:r>
            <a:r>
              <a:rPr lang="en-US" sz="1800" i="1" dirty="0"/>
              <a:t>what they can do</a:t>
            </a:r>
          </a:p>
          <a:p>
            <a:r>
              <a:rPr lang="en-US" sz="1800" dirty="0"/>
              <a:t>Skills tell agents </a:t>
            </a:r>
            <a:r>
              <a:rPr lang="en-US" sz="1800" i="1" dirty="0"/>
              <a:t>how they should do it</a:t>
            </a:r>
            <a:endParaRPr lang="en-US" sz="1800" dirty="0"/>
          </a:p>
          <a:p>
            <a:pPr marL="0" indent="0">
              <a:buNone/>
            </a:pPr>
            <a:r>
              <a:rPr lang="en-US" b="1" dirty="0"/>
              <a:t>Why Skills Matter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Consistency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Reusability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Scalability of expertise</a:t>
            </a:r>
          </a:p>
        </p:txBody>
      </p:sp>
    </p:spTree>
    <p:extLst>
      <p:ext uri="{BB962C8B-B14F-4D97-AF65-F5344CB8AC3E}">
        <p14:creationId xmlns:p14="http://schemas.microsoft.com/office/powerpoint/2010/main" val="2030336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04FDF-BA64-54E7-140E-21C8F8B63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54D68-E177-7A67-67A1-094D9C0BF2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996515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FAAEC-4C0D-0E42-CE71-833593886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D3114-4D77-73BE-A59D-B84562854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637243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3F157-E60A-D2D0-4547-64C4B509E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589F7-1669-7062-AEF6-CE25D10EE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261052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9FAD9-8431-9BC1-DAB2-08BBA8D75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MCP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3CE46-4441-337F-0D98-6356B7DEC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6301876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0FD99-6F5B-2528-12A8-6DEEAB573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Why Agent Skills?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41E46-276F-944E-B54B-DCF406BD9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9215246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AD022-2A65-9D86-F207-456EE9672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Agent skills</a:t>
            </a:r>
            <a:r>
              <a:rPr lang="zh-CN" altLang="en-US" dirty="0"/>
              <a:t>和 </a:t>
            </a:r>
            <a:r>
              <a:rPr lang="en-US" dirty="0"/>
              <a:t>Function / MCP </a:t>
            </a:r>
            <a:r>
              <a:rPr lang="zh-CN" altLang="en-US" dirty="0"/>
              <a:t>的清晰分工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7B8BE-02C4-C537-BD56-23EF5B7BF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Skill</a:t>
            </a:r>
          </a:p>
          <a:p>
            <a:pPr marL="0" indent="0">
              <a:buNone/>
            </a:pPr>
            <a:r>
              <a:rPr lang="en-US" dirty="0"/>
              <a:t> ├─ </a:t>
            </a:r>
            <a:r>
              <a:rPr lang="zh-CN" altLang="en-US" dirty="0"/>
              <a:t>决定“怎么做”</a:t>
            </a:r>
          </a:p>
          <a:p>
            <a:pPr marL="0" indent="0">
              <a:buNone/>
            </a:pPr>
            <a:r>
              <a:rPr lang="zh-CN" altLang="en-US" dirty="0"/>
              <a:t> ├─ 约束输出结构</a:t>
            </a:r>
          </a:p>
          <a:p>
            <a:pPr marL="0" indent="0">
              <a:buNone/>
            </a:pPr>
            <a:r>
              <a:rPr lang="zh-CN" altLang="en-US" dirty="0"/>
              <a:t> └─ 统一质量标准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en-US" dirty="0"/>
              <a:t>MCP</a:t>
            </a:r>
          </a:p>
          <a:p>
            <a:pPr marL="0" indent="0">
              <a:buNone/>
            </a:pPr>
            <a:r>
              <a:rPr lang="en-US" dirty="0"/>
              <a:t> ├─ </a:t>
            </a:r>
            <a:r>
              <a:rPr lang="zh-CN" altLang="en-US" dirty="0"/>
              <a:t>提供 </a:t>
            </a:r>
            <a:r>
              <a:rPr lang="en-US" dirty="0"/>
              <a:t>Git / Jira / DB </a:t>
            </a:r>
            <a:r>
              <a:rPr lang="zh-CN" altLang="en-US" dirty="0"/>
              <a:t>访问</a:t>
            </a:r>
          </a:p>
          <a:p>
            <a:pPr marL="0" indent="0">
              <a:buNone/>
            </a:pPr>
            <a:r>
              <a:rPr lang="zh-CN" altLang="en-US" dirty="0"/>
              <a:t> └─ 安全 </a:t>
            </a:r>
            <a:r>
              <a:rPr lang="en-US" altLang="zh-CN" dirty="0"/>
              <a:t>&amp; </a:t>
            </a:r>
            <a:r>
              <a:rPr lang="zh-CN" altLang="en-US" dirty="0"/>
              <a:t>标准化连接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en-US" dirty="0"/>
              <a:t>Function Call</a:t>
            </a:r>
          </a:p>
          <a:p>
            <a:pPr marL="0" indent="0">
              <a:buNone/>
            </a:pPr>
            <a:r>
              <a:rPr lang="en-US" dirty="0"/>
              <a:t> ├─ </a:t>
            </a:r>
            <a:r>
              <a:rPr lang="en-US" dirty="0" err="1"/>
              <a:t>fetch_commits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 ├─ </a:t>
            </a:r>
            <a:r>
              <a:rPr lang="en-US" dirty="0" err="1"/>
              <a:t>fetch_issues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 └─ </a:t>
            </a:r>
            <a:r>
              <a:rPr lang="en-US" dirty="0" err="1"/>
              <a:t>send_email</a:t>
            </a:r>
            <a:r>
              <a:rPr lang="en-US" dirty="0"/>
              <a:t>()</a:t>
            </a:r>
          </a:p>
          <a:p>
            <a:pPr marL="0" indent="0">
              <a:buNone/>
            </a:pP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578101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D62-4457-E1B2-1154-340A3E99C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Usecases with Agent Skills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1BDF0-856E-EC02-D263-38E8DEEEE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weekly_status_report</a:t>
            </a:r>
            <a:endParaRPr lang="en-US" dirty="0"/>
          </a:p>
          <a:p>
            <a:r>
              <a:rPr lang="en-US" dirty="0" err="1"/>
              <a:t>code_review_backend</a:t>
            </a:r>
            <a:endParaRPr lang="en-US" dirty="0"/>
          </a:p>
          <a:p>
            <a:r>
              <a:rPr lang="en-US" dirty="0" err="1"/>
              <a:t>data_analysis_basic</a:t>
            </a:r>
            <a:endParaRPr lang="en-US" dirty="0"/>
          </a:p>
          <a:p>
            <a:pPr marL="0" indent="0">
              <a:buNone/>
            </a:pPr>
            <a:r>
              <a:rPr lang="en-CN" dirty="0"/>
              <a:t>….</a:t>
            </a:r>
          </a:p>
        </p:txBody>
      </p:sp>
    </p:spTree>
    <p:extLst>
      <p:ext uri="{BB962C8B-B14F-4D97-AF65-F5344CB8AC3E}">
        <p14:creationId xmlns:p14="http://schemas.microsoft.com/office/powerpoint/2010/main" val="17362077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D1894-7E53-E454-1719-4FABDC44A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281" y="42129"/>
            <a:ext cx="10515600" cy="1325563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Usecase</a:t>
            </a:r>
            <a:r>
              <a:rPr lang="en-US" dirty="0"/>
              <a:t> of Agent Skills</a:t>
            </a:r>
            <a:endParaRPr lang="en-C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04CC019-767D-A959-104F-CBD111AC6F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7816" y="141222"/>
            <a:ext cx="3837579" cy="6674649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510D90-BDE1-2842-7FE2-92D221C22E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7187" y="2977080"/>
            <a:ext cx="4717625" cy="37425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423DBA2-7042-02F3-16CE-A4262E81EC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43" y="1549481"/>
            <a:ext cx="5900351" cy="1331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0087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6561B-6F67-50D5-8A85-E0E9B831C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</a:t>
            </a:r>
            <a:r>
              <a:rPr lang="zh-CN" altLang="en-US" dirty="0"/>
              <a:t>实际怎么用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D1E13-AC0B-0FCE-10E3-66CF27235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733800" cy="32159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1400" dirty="0"/>
              <a:t>用户：帮我 </a:t>
            </a:r>
            <a:r>
              <a:rPr lang="en-US" sz="1400" dirty="0"/>
              <a:t>review </a:t>
            </a:r>
            <a:r>
              <a:rPr lang="zh-CN" altLang="en-US" sz="1400" dirty="0"/>
              <a:t>这个 </a:t>
            </a:r>
            <a:r>
              <a:rPr lang="en-US" sz="1400" dirty="0"/>
              <a:t>PR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Agent：</a:t>
            </a:r>
          </a:p>
          <a:p>
            <a:pPr marL="0" indent="0">
              <a:buNone/>
            </a:pPr>
            <a:r>
              <a:rPr lang="en-US" sz="1400" dirty="0"/>
              <a:t>1. </a:t>
            </a:r>
            <a:r>
              <a:rPr lang="zh-CN" altLang="en-US" sz="1400" dirty="0"/>
              <a:t>判断是 </a:t>
            </a:r>
            <a:r>
              <a:rPr lang="en-US" sz="1400" dirty="0"/>
              <a:t>code review</a:t>
            </a:r>
          </a:p>
          <a:p>
            <a:pPr marL="0" indent="0">
              <a:buNone/>
            </a:pPr>
            <a:r>
              <a:rPr lang="en-US" sz="1400" dirty="0"/>
              <a:t>2. </a:t>
            </a:r>
            <a:r>
              <a:rPr lang="zh-CN" altLang="en-US" sz="1400" dirty="0"/>
              <a:t>加载 </a:t>
            </a:r>
            <a:r>
              <a:rPr lang="en-US" sz="1400" dirty="0" err="1"/>
              <a:t>code_review_backend</a:t>
            </a:r>
            <a:r>
              <a:rPr lang="en-US" sz="1400" dirty="0"/>
              <a:t> Skill</a:t>
            </a:r>
          </a:p>
          <a:p>
            <a:pPr marL="0" indent="0">
              <a:buNone/>
            </a:pPr>
            <a:r>
              <a:rPr lang="en-US" sz="1400" dirty="0"/>
              <a:t>3. </a:t>
            </a:r>
            <a:r>
              <a:rPr lang="zh-CN" altLang="en-US" sz="1400" dirty="0"/>
              <a:t>读取 </a:t>
            </a:r>
            <a:r>
              <a:rPr lang="en-US" sz="1400" dirty="0" err="1"/>
              <a:t>instructions.md</a:t>
            </a:r>
            <a:endParaRPr lang="en-US" sz="1400" dirty="0"/>
          </a:p>
          <a:p>
            <a:pPr marL="0" indent="0">
              <a:buNone/>
            </a:pPr>
            <a:r>
              <a:rPr lang="en-US" sz="1400" dirty="0"/>
              <a:t>4. </a:t>
            </a:r>
            <a:r>
              <a:rPr lang="zh-CN" altLang="en-US" sz="1400" dirty="0"/>
              <a:t>拉 </a:t>
            </a:r>
            <a:r>
              <a:rPr lang="en-US" sz="1400" dirty="0"/>
              <a:t>PR </a:t>
            </a:r>
            <a:r>
              <a:rPr lang="en-US" sz="1400" dirty="0" err="1"/>
              <a:t>diff（MCP</a:t>
            </a:r>
            <a:r>
              <a:rPr lang="en-US" sz="1400" dirty="0"/>
              <a:t> / Tool）</a:t>
            </a:r>
          </a:p>
          <a:p>
            <a:pPr marL="0" indent="0">
              <a:buNone/>
            </a:pPr>
            <a:r>
              <a:rPr lang="en-US" sz="1400" dirty="0"/>
              <a:t>5. </a:t>
            </a:r>
            <a:r>
              <a:rPr lang="zh-CN" altLang="en-US" sz="1400" dirty="0"/>
              <a:t>严格按 </a:t>
            </a:r>
            <a:r>
              <a:rPr lang="en-US" sz="1400" dirty="0"/>
              <a:t>instructions </a:t>
            </a:r>
            <a:r>
              <a:rPr lang="zh-CN" altLang="en-US" sz="1400" dirty="0"/>
              <a:t>生成结果</a:t>
            </a:r>
          </a:p>
          <a:p>
            <a:pPr marL="0" indent="0">
              <a:buNone/>
            </a:pPr>
            <a:endParaRPr lang="en-CN" sz="1400" dirty="0"/>
          </a:p>
        </p:txBody>
      </p:sp>
    </p:spTree>
    <p:extLst>
      <p:ext uri="{BB962C8B-B14F-4D97-AF65-F5344CB8AC3E}">
        <p14:creationId xmlns:p14="http://schemas.microsoft.com/office/powerpoint/2010/main" val="4852081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A4C3A-30C1-6FCC-9603-36E785CC8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EA4B7-47F5-3083-F170-C123B03965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9901406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1473</TotalTime>
  <Words>1635</Words>
  <Application>Microsoft Macintosh PowerPoint</Application>
  <PresentationFormat>Widescreen</PresentationFormat>
  <Paragraphs>226</Paragraphs>
  <Slides>23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Calibri Light</vt:lpstr>
      <vt:lpstr>Office Theme</vt:lpstr>
      <vt:lpstr>Agent Skills Intro</vt:lpstr>
      <vt:lpstr>Function Calls-- Giving Models the Ability to Act</vt:lpstr>
      <vt:lpstr>Function Calls-- Giving Models the Ability to Act</vt:lpstr>
      <vt:lpstr>MCP-- (Model Context Protocol) Standardizing How Models Connect to the World</vt:lpstr>
      <vt:lpstr>The Problem</vt:lpstr>
      <vt:lpstr>Agent Skills</vt:lpstr>
      <vt:lpstr>how-to-create-custom-skills</vt:lpstr>
      <vt:lpstr>How Skills Fit Together</vt:lpstr>
      <vt:lpstr>Use Case 1: Weekly Status Reports</vt:lpstr>
      <vt:lpstr>Use Case 2: Code Review Agent</vt:lpstr>
      <vt:lpstr>Use Case 2: Code Review Agent</vt:lpstr>
      <vt:lpstr>Use Case 3: Customer Support &amp; Compliance</vt:lpstr>
      <vt:lpstr>Key Takeaways</vt:lpstr>
      <vt:lpstr>PowerPoint Presentation</vt:lpstr>
      <vt:lpstr>PowerPoint Presentation</vt:lpstr>
      <vt:lpstr>PowerPoint Presentation</vt:lpstr>
      <vt:lpstr>MCP</vt:lpstr>
      <vt:lpstr>Why Agent Skills?</vt:lpstr>
      <vt:lpstr>Agent skills和 Function / MCP 的清晰分工</vt:lpstr>
      <vt:lpstr>Usecases with Agent Skills</vt:lpstr>
      <vt:lpstr>A Usecase of Agent Skills</vt:lpstr>
      <vt:lpstr>Agent 实际怎么用</vt:lpstr>
      <vt:lpstr>PowerPoint Presentation</vt:lpstr>
    </vt:vector>
  </TitlesOfParts>
  <Company>Citi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Liu, Hao Harry [OT-TECH]</dc:creator>
  <cp:lastModifiedBy>浩 刘</cp:lastModifiedBy>
  <cp:revision>124</cp:revision>
  <dcterms:created xsi:type="dcterms:W3CDTF">2024-02-15T09:08:23Z</dcterms:created>
  <dcterms:modified xsi:type="dcterms:W3CDTF">2025-12-28T08:41:09Z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291669d-c62a-41f9-9790-e463798003d8_Enabled">
    <vt:lpwstr>true</vt:lpwstr>
  </property>
  <property fmtid="{D5CDD505-2E9C-101B-9397-08002B2CF9AE}" pid="3" name="MSIP_Label_d291669d-c62a-41f9-9790-e463798003d8_SetDate">
    <vt:lpwstr>2024-02-15T09:08:28Z</vt:lpwstr>
  </property>
  <property fmtid="{D5CDD505-2E9C-101B-9397-08002B2CF9AE}" pid="4" name="MSIP_Label_d291669d-c62a-41f9-9790-e463798003d8_Method">
    <vt:lpwstr>Privileged</vt:lpwstr>
  </property>
  <property fmtid="{D5CDD505-2E9C-101B-9397-08002B2CF9AE}" pid="5" name="MSIP_Label_d291669d-c62a-41f9-9790-e463798003d8_Name">
    <vt:lpwstr>Public</vt:lpwstr>
  </property>
  <property fmtid="{D5CDD505-2E9C-101B-9397-08002B2CF9AE}" pid="6" name="MSIP_Label_d291669d-c62a-41f9-9790-e463798003d8_SiteId">
    <vt:lpwstr>1771ae17-e764-4e0f-a476-d4184d79a5d9</vt:lpwstr>
  </property>
  <property fmtid="{D5CDD505-2E9C-101B-9397-08002B2CF9AE}" pid="7" name="MSIP_Label_d291669d-c62a-41f9-9790-e463798003d8_ActionId">
    <vt:lpwstr>ceda09ee-b1e4-4bcd-ad32-bddc5722253c</vt:lpwstr>
  </property>
  <property fmtid="{D5CDD505-2E9C-101B-9397-08002B2CF9AE}" pid="8" name="MSIP_Label_d291669d-c62a-41f9-9790-e463798003d8_ContentBits">
    <vt:lpwstr>0</vt:lpwstr>
  </property>
</Properties>
</file>
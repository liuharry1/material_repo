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63" r:id="rId4"/>
    <p:sldId id="264" r:id="rId5"/>
    <p:sldId id="257" r:id="rId6"/>
    <p:sldId id="258" r:id="rId7"/>
    <p:sldId id="259" r:id="rId8"/>
    <p:sldId id="262" r:id="rId9"/>
    <p:sldId id="260" r:id="rId10"/>
    <p:sldId id="261" r:id="rId11"/>
    <p:sldId id="266" r:id="rId12"/>
    <p:sldId id="268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97"/>
  </p:normalViewPr>
  <p:slideViewPr>
    <p:cSldViewPr snapToGrid="0">
      <p:cViewPr varScale="1">
        <p:scale>
          <a:sx n="119" d="100"/>
          <a:sy n="119" d="100"/>
        </p:scale>
        <p:origin x="2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494422-9827-4A89-80F0-4270A60F7932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DF05E0-1BF2-4D7A-B279-4F5023366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06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https://www.mmntm.net/articles/cursor-deep-dive?utm_source=chatgpt.com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DF05E0-1BF2-4D7A-B279-4F5023366DE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698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CE6C07-0E35-3A2F-9894-B41279FB9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BE732A-39C1-0130-F35B-F53724D44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3C76EB-D767-17A5-3E95-BA7CD503C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656E-984F-4061-B50B-243191DB476F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D4020A-70D9-7EEB-A070-8E8440B93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5BD455-80CB-E86A-163A-78BA6DBE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FBE81-AE5E-4806-8AD7-932FD9D69F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246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47BFA-B272-195A-DDCE-36ED1C1D9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6C87C5-D643-CF21-20D1-B93307065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084173-632A-8083-5BDC-D669754BC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656E-984F-4061-B50B-243191DB476F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87CFCC-3E05-4E5B-4100-7B8426BA7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2A003A-2435-308E-2ECD-7D770F6D3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FBE81-AE5E-4806-8AD7-932FD9D69F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77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0AF15A-BDAE-8E01-A49A-9EF8637B0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0BEF75-A4D1-6245-A798-07F200E87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FAD961-346F-5650-F882-8D49A085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656E-984F-4061-B50B-243191DB476F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24D7A2-72CF-614E-CBA0-B5CA279BB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ED8897-3784-7AED-BFFC-5D12D927E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FBE81-AE5E-4806-8AD7-932FD9D69F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081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07D9BD-47FB-2473-1511-0B3FA51A4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0CAE66-D3D8-6EEE-A496-F5469778D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F82041-FC99-72EB-D19B-290F776A4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741EEA-D67E-4CA2-D3EE-79FB71007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656E-984F-4061-B50B-243191DB476F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E3BD78-F039-75CC-8D68-A1F6A52D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229537-7C14-1DFB-5E06-C8556545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FBE81-AE5E-4806-8AD7-932FD9D69F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774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BEA4C-FFDA-8A26-26AD-D7C9C379D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5EBEB3-8B38-D21F-C9AB-938DFB05C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8BB205-19D6-0728-FE94-AB121F7FB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0ED751C-5941-9E39-FCD6-7E9BC1DBE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C6561E-98B1-19FB-1E36-AEE51AF6E6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5FC912-4012-2B0E-72B4-F685A63B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656E-984F-4061-B50B-243191DB476F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6805EEA-2FBB-CA1C-8418-32727C12E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2792E9-5A25-C85D-E7C6-E8EE003E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FBE81-AE5E-4806-8AD7-932FD9D69F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157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6B6A12-3D1B-7415-E152-AFC508FA4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E9F2C1-7BED-7A8A-D453-EAEF4936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656E-984F-4061-B50B-243191DB476F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0BD4E8-75A6-2BBC-4FA3-D63AA4A8F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920A75-4145-5CE7-B800-546E87EE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FBE81-AE5E-4806-8AD7-932FD9D69F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185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11A167-0D51-24CD-1175-35C13941C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656E-984F-4061-B50B-243191DB476F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1178CF-3B29-8AB5-DB89-1E8AA308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0904FD-461D-06DD-36DF-F5857A3F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FBE81-AE5E-4806-8AD7-932FD9D69F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990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13632-DDF7-314C-48CD-3C8C434B7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4CB5D9-150C-6A79-17DD-4773E880E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79C2A1-AD12-A80D-4BD4-33D2509A2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DB6D78-B895-CD34-EB28-CF52B5DF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656E-984F-4061-B50B-243191DB476F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428238-1400-41CC-3FFB-8E506B25F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E0E569-260C-9D2B-EC39-94B7B906B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FBE81-AE5E-4806-8AD7-932FD9D69F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55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454FA9-B8E2-C783-2469-8EA9D0DB1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AD83AF9-9F93-5DD9-E2F9-D2D3EFB0E2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2FC679-0D00-0B18-84CD-56CD44283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0D079E-9598-3288-4B6D-B03C8DCE0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656E-984F-4061-B50B-243191DB476F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BC0CF7-0498-5B48-24C5-2700C1399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10F56B-BC8A-A69B-12CE-4B0DE5AAB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FBE81-AE5E-4806-8AD7-932FD9D69F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8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F9556-6A9C-B041-5991-E198BE8D5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AA0889-9708-B060-54EE-E0F499AE3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D67BB4-4983-9C7A-DD58-C979E7144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656E-984F-4061-B50B-243191DB476F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30861D-E3C9-3AD4-CA12-55167833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0B065E-D230-4B01-4176-4D104056D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FBE81-AE5E-4806-8AD7-932FD9D69F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53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09497AB-6CC5-B702-5398-8C2FF4724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3CD25F-0337-B3B3-37EB-4C879A07C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5B1160-3380-5E3A-41B7-D6187B6E4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656E-984F-4061-B50B-243191DB476F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1CD0AF-2B60-65EC-0A5B-397FDD39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8348CA-72CA-708E-200A-B28ACC583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FBE81-AE5E-4806-8AD7-932FD9D69F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868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8C9B87-5ECF-FFB7-B9CD-9AEED32CC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533750-C3ED-05CF-F46A-A141D64C2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DDF6E8-0FDC-412B-AF93-DEEEB7B0C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B656E-984F-4061-B50B-243191DB476F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D9B438-CEDB-92FD-2A5F-07658CF14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01FCCB-7277-2DCD-19B2-BB254DDFA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FBE81-AE5E-4806-8AD7-932FD9D69F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90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3836D-1476-E4B7-945D-DF3439D43B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800" b="1" dirty="0"/>
              <a:t>From GitHub Copilot to Cursor</a:t>
            </a:r>
            <a:br>
              <a:rPr lang="en-US" altLang="zh-CN" sz="4800" dirty="0"/>
            </a:br>
            <a:r>
              <a:rPr lang="en-US" altLang="zh-CN" sz="4800" b="1" dirty="0"/>
              <a:t>Why We Need a Project-Level AI</a:t>
            </a:r>
            <a:endParaRPr lang="zh-CN" altLang="en-US" sz="48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B293620-BF6C-5BFC-F11C-4D1B18FCFA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Improving engineering productivity beyond code completion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5070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D788B-2B0C-324A-4AD7-2ED5506A8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228" y="96819"/>
            <a:ext cx="10709238" cy="82834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What Cursor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F1FEF0-B5BA-BF65-1E82-92EE04FBC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228" y="1083346"/>
            <a:ext cx="11178092" cy="4833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b="1" dirty="0"/>
              <a:t>Cursor</a:t>
            </a:r>
            <a:r>
              <a:rPr lang="en-US" altLang="zh-CN" sz="2000" dirty="0"/>
              <a:t> is an AI-native code editor built by </a:t>
            </a:r>
            <a:r>
              <a:rPr lang="en-US" altLang="zh-CN" sz="2000" dirty="0" err="1"/>
              <a:t>Anysphere</a:t>
            </a:r>
            <a:r>
              <a:rPr lang="en-US" altLang="zh-CN" sz="2000" dirty="0"/>
              <a:t> that forked VS Code to gain architectural control impossible through extensions. 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Unlike GitHub Copilot (which operates as a plugin), Cursor can rewrite the editor itself—enabling features like Shadow Workspace verification, inline diffs, and multi-file edits that extensions cannot replicate. It reached $1B ARR in 24 months at a $29B valuation, making it the fastest-growing SaaS company in history.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7455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9F47B-EEDC-1630-7E3C-66AFD8400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Current Situation of </a:t>
            </a:r>
            <a:r>
              <a:rPr lang="en-US" altLang="zh-CN" dirty="0" err="1"/>
              <a:t>Github</a:t>
            </a:r>
            <a:r>
              <a:rPr lang="en-US" altLang="zh-CN" dirty="0"/>
              <a:t> and Cursor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D1E27A-B600-8005-A4FC-315C048EB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Cost breakdown</a:t>
            </a:r>
          </a:p>
          <a:p>
            <a:r>
              <a:rPr lang="en-US" altLang="zh-CN" sz="1900" b="1" dirty="0"/>
              <a:t>Cursor Pro</a:t>
            </a:r>
            <a:r>
              <a:rPr lang="en-US" altLang="zh-CN" sz="1900" dirty="0"/>
              <a:t>: $20 monthly but you only get 500 premium requests, then extra fees kick in</a:t>
            </a:r>
          </a:p>
          <a:p>
            <a:r>
              <a:rPr lang="en-US" altLang="zh-CN" sz="1900" b="1" dirty="0"/>
              <a:t>GitHub Copilot Pro</a:t>
            </a:r>
            <a:r>
              <a:rPr lang="en-US" altLang="zh-CN" sz="1900" dirty="0"/>
              <a:t>: $10 monthly with unlimited usage under fair use terms</a:t>
            </a:r>
          </a:p>
          <a:p>
            <a:r>
              <a:rPr lang="en-US" altLang="zh-CN" sz="1900" dirty="0"/>
              <a:t>I’ve seen people mention bills over $40 with Cursor when they go over limits</a:t>
            </a:r>
          </a:p>
          <a:p>
            <a:r>
              <a:rPr lang="en-US" altLang="zh-CN" b="1" dirty="0"/>
              <a:t>Features they both have</a:t>
            </a:r>
          </a:p>
          <a:p>
            <a:r>
              <a:rPr lang="en-US" altLang="zh-CN" sz="2100" dirty="0"/>
              <a:t>Code auto-completion</a:t>
            </a:r>
          </a:p>
          <a:p>
            <a:r>
              <a:rPr lang="en-US" altLang="zh-CN" sz="2100" dirty="0"/>
              <a:t>AI chat for help with coding</a:t>
            </a:r>
          </a:p>
          <a:p>
            <a:r>
              <a:rPr lang="en-US" altLang="zh-CN" sz="2100" dirty="0"/>
              <a:t>Automated coding agents</a:t>
            </a:r>
          </a:p>
          <a:p>
            <a:r>
              <a:rPr lang="en-US" altLang="zh-CN" sz="2100" dirty="0"/>
              <a:t>Understanding your entire project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7238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41A69-4079-DAF5-DA5E-950ECB5DA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A3E62F-13E1-5979-DE03-407D6494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Current Situation of </a:t>
            </a:r>
            <a:r>
              <a:rPr lang="en-US" altLang="zh-CN" dirty="0" err="1"/>
              <a:t>Github</a:t>
            </a:r>
            <a:r>
              <a:rPr lang="en-US" altLang="zh-CN" dirty="0"/>
              <a:t> and Cursor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DC8A2A-7282-75A2-5D22-231AFCFDF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Cost breakdown</a:t>
            </a:r>
          </a:p>
          <a:p>
            <a:r>
              <a:rPr lang="en-US" altLang="zh-CN" sz="1900" b="1" dirty="0"/>
              <a:t>Cursor Pro</a:t>
            </a:r>
            <a:r>
              <a:rPr lang="en-US" altLang="zh-CN" sz="1900" dirty="0"/>
              <a:t>: $20 monthly but you only get 500 premium requests, then extra fees kick in</a:t>
            </a:r>
          </a:p>
          <a:p>
            <a:r>
              <a:rPr lang="en-US" altLang="zh-CN" sz="1900" b="1" dirty="0"/>
              <a:t>GitHub Copilot Pro</a:t>
            </a:r>
            <a:r>
              <a:rPr lang="en-US" altLang="zh-CN" sz="1900" dirty="0"/>
              <a:t>: $10 monthly with unlimited usage under fair use terms</a:t>
            </a:r>
          </a:p>
          <a:p>
            <a:r>
              <a:rPr lang="en-US" altLang="zh-CN" sz="1900" dirty="0"/>
              <a:t>I’ve seen people mention bills over $40 with Cursor when they go over limits</a:t>
            </a:r>
          </a:p>
          <a:p>
            <a:r>
              <a:rPr lang="en-US" altLang="zh-CN" b="1" dirty="0"/>
              <a:t>Features they both have</a:t>
            </a:r>
          </a:p>
          <a:p>
            <a:r>
              <a:rPr lang="en-US" altLang="zh-CN" sz="2100" dirty="0"/>
              <a:t>Code auto-completion</a:t>
            </a:r>
          </a:p>
          <a:p>
            <a:r>
              <a:rPr lang="en-US" altLang="zh-CN" sz="2100" dirty="0"/>
              <a:t>AI chat for help with coding</a:t>
            </a:r>
          </a:p>
          <a:p>
            <a:r>
              <a:rPr lang="en-US" altLang="zh-CN" sz="2100" dirty="0"/>
              <a:t>Automated coding agents</a:t>
            </a:r>
          </a:p>
          <a:p>
            <a:r>
              <a:rPr lang="en-US" altLang="zh-CN" sz="2100" dirty="0"/>
              <a:t>Understanding your entire project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6802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F08F2-84EF-0DC8-BE12-2402A42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GitHub Copilot: A Great Code-Level Assistant</a:t>
            </a: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BFB838-02E6-1A19-C495-DAB2E9C562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54494"/>
            <a:ext cx="10515600" cy="3576364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zh-CN" dirty="0"/>
              <a:t>Intelligent inline code completion</a:t>
            </a:r>
          </a:p>
          <a:p>
            <a:pPr lvl="0"/>
            <a:r>
              <a:rPr lang="zh-CN" altLang="zh-CN" dirty="0"/>
              <a:t>Helps write functions and boilerplate faster</a:t>
            </a:r>
          </a:p>
          <a:p>
            <a:pPr lvl="0"/>
            <a:r>
              <a:rPr lang="zh-CN" altLang="zh-CN" dirty="0"/>
              <a:t>Useful for API usage, syntax, and patterns</a:t>
            </a:r>
          </a:p>
          <a:p>
            <a:pPr lvl="0"/>
            <a:r>
              <a:rPr lang="zh-CN" altLang="zh-CN" dirty="0"/>
              <a:t>Low learning curve, easy to adopt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pPr marL="0" lvl="0" indent="0">
              <a:buNone/>
            </a:pPr>
            <a:r>
              <a:rPr lang="en-US" altLang="zh-CN" dirty="0"/>
              <a:t>✅ Copilot significantly speeds up writing code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454400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F25DE-AD5D-32EC-E22B-3E898BDC8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Copilot’s Ceiling in Real Engineering Work</a:t>
            </a:r>
            <a:endParaRPr lang="zh-CN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8E0E4D-182A-8E10-04DB-30CFAD8141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38268"/>
            <a:ext cx="9968345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dirty="0"/>
              <a:t>Limited project-wide understanding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dirty="0"/>
              <a:t>Multi-file changes are mostly manual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dirty="0"/>
              <a:t>Refactoring still requires developers to: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dirty="0"/>
              <a:t>Search files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dirty="0"/>
              <a:t>Open files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dirty="0"/>
              <a:t>Decide what to change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dirty="0"/>
              <a:t>AI mostly reacts to developer actions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zh-CN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dirty="0"/>
              <a:t>⚠️ Copilot helps </a:t>
            </a:r>
            <a:r>
              <a:rPr lang="en-US" altLang="zh-CN" i="1" dirty="0"/>
              <a:t>how fast we type</a:t>
            </a:r>
            <a:r>
              <a:rPr lang="en-US" altLang="zh-CN" dirty="0"/>
              <a:t>,</a:t>
            </a:r>
            <a:br>
              <a:rPr lang="en-US" altLang="zh-CN" dirty="0"/>
            </a:br>
            <a:r>
              <a:rPr lang="en-US" altLang="zh-CN" dirty="0"/>
              <a:t>but not </a:t>
            </a:r>
            <a:r>
              <a:rPr lang="en-US" altLang="zh-CN" i="1" dirty="0"/>
              <a:t>who does the engineering work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126642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819F82-3061-F087-3AF5-6F033F3DA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"/>
            <a:ext cx="10504055" cy="969818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+mj-ea"/>
              </a:rPr>
              <a:t>Why Copilot Has Limits — An Architectural View</a:t>
            </a:r>
            <a:endParaRPr lang="zh-CN" altLang="en-US" sz="3600" dirty="0">
              <a:latin typeface="+mj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42D8CF-639D-BC6D-0B90-BF625F2D7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26" y="969819"/>
            <a:ext cx="5497947" cy="51398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b="1" dirty="0"/>
              <a:t>GitHub Copilot</a:t>
            </a:r>
            <a:r>
              <a:rPr lang="en-US" altLang="zh-CN" sz="2400" b="1" dirty="0"/>
              <a:t> </a:t>
            </a:r>
            <a:r>
              <a:rPr lang="en-US" altLang="zh-CN" sz="1800" b="1" dirty="0"/>
              <a:t>--</a:t>
            </a:r>
            <a:r>
              <a:rPr lang="en-US" altLang="zh-CN" sz="1800" i="1" dirty="0"/>
              <a:t>Plugin-based assistant</a:t>
            </a:r>
          </a:p>
          <a:p>
            <a:pPr marL="0" indent="0">
              <a:buNone/>
            </a:pPr>
            <a:endParaRPr lang="en-US" altLang="zh-CN" sz="1800" i="1" dirty="0"/>
          </a:p>
          <a:p>
            <a:pPr marL="0" indent="0">
              <a:buNone/>
            </a:pPr>
            <a:r>
              <a:rPr lang="en-US" altLang="zh-CN" sz="2000" dirty="0"/>
              <a:t>Developer</a:t>
            </a:r>
          </a:p>
          <a:p>
            <a:pPr marL="0" indent="0">
              <a:buNone/>
            </a:pPr>
            <a:r>
              <a:rPr lang="en-US" altLang="zh-CN" sz="2000" dirty="0"/>
              <a:t>   ↓</a:t>
            </a:r>
          </a:p>
          <a:p>
            <a:pPr marL="0" indent="0">
              <a:buNone/>
            </a:pPr>
            <a:r>
              <a:rPr lang="en-US" altLang="zh-CN" sz="2000" dirty="0"/>
              <a:t>IDE (VS </a:t>
            </a:r>
            <a:r>
              <a:rPr lang="en-US" altLang="zh-CN" sz="2000" dirty="0">
                <a:solidFill>
                  <a:srgbClr val="FF0000"/>
                </a:solidFill>
              </a:rPr>
              <a:t>Code</a:t>
            </a:r>
            <a:r>
              <a:rPr lang="en-US" altLang="zh-CN" sz="2000" dirty="0"/>
              <a:t>)</a:t>
            </a:r>
          </a:p>
          <a:p>
            <a:pPr marL="0" indent="0">
              <a:buNone/>
            </a:pPr>
            <a:r>
              <a:rPr lang="en-US" altLang="zh-CN" sz="2000" dirty="0"/>
              <a:t>   ↓</a:t>
            </a:r>
          </a:p>
          <a:p>
            <a:pPr marL="0" indent="0">
              <a:buNone/>
            </a:pPr>
            <a:r>
              <a:rPr lang="en-US" altLang="zh-CN" sz="2000" dirty="0"/>
              <a:t>Copilot Extension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sz="2400" dirty="0"/>
              <a:t>Runs as an IDE plugin</a:t>
            </a:r>
          </a:p>
          <a:p>
            <a:r>
              <a:rPr lang="en-US" altLang="zh-CN" sz="2400" dirty="0"/>
              <a:t>Context is provided by the IDE</a:t>
            </a:r>
          </a:p>
          <a:p>
            <a:r>
              <a:rPr lang="en-US" altLang="zh-CN" sz="2400" dirty="0"/>
              <a:t>No autonomous project traversal</a:t>
            </a:r>
          </a:p>
          <a:p>
            <a:r>
              <a:rPr lang="zh-CN" altLang="en-US" sz="2400" dirty="0"/>
              <a:t>👉 </a:t>
            </a:r>
            <a:r>
              <a:rPr lang="en-US" altLang="zh-CN" sz="2400" i="1" dirty="0"/>
              <a:t>AI assists the developer</a:t>
            </a:r>
            <a:endParaRPr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4E862C-A2D1-B618-55F9-D9D751C0E71B}"/>
              </a:ext>
            </a:extLst>
          </p:cNvPr>
          <p:cNvSpPr txBox="1"/>
          <p:nvPr/>
        </p:nvSpPr>
        <p:spPr>
          <a:xfrm>
            <a:off x="5966691" y="969819"/>
            <a:ext cx="611678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800" b="1" dirty="0"/>
              <a:t>Cursor </a:t>
            </a:r>
            <a:r>
              <a:rPr lang="en-US" altLang="zh-CN" sz="2000" b="1" dirty="0"/>
              <a:t>--</a:t>
            </a:r>
            <a:r>
              <a:rPr lang="en-US" altLang="zh-CN" sz="2000" i="1" dirty="0"/>
              <a:t>AI-native editor</a:t>
            </a:r>
            <a:endParaRPr lang="en-US" altLang="zh-CN" sz="2000" dirty="0"/>
          </a:p>
          <a:p>
            <a:pPr rtl="0">
              <a:buNone/>
            </a:pPr>
            <a:endParaRPr lang="en-US" altLang="zh-CN" sz="20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altLang="zh-CN" sz="2000" dirty="0">
                <a:latin typeface="Courier New" panose="02070309020205020404" pitchFamily="49" charset="0"/>
              </a:rPr>
              <a:t>Developer Goal</a:t>
            </a:r>
          </a:p>
          <a:p>
            <a:pPr rtl="0">
              <a:buNone/>
            </a:pPr>
            <a:r>
              <a:rPr lang="en-US" altLang="zh-CN" sz="2000" dirty="0">
                <a:latin typeface="Courier New" panose="02070309020205020404" pitchFamily="49" charset="0"/>
              </a:rPr>
              <a:t>      ↓</a:t>
            </a:r>
          </a:p>
          <a:p>
            <a:pPr rtl="0">
              <a:buNone/>
            </a:pPr>
            <a:r>
              <a:rPr lang="en-US" altLang="zh-CN" sz="2000" dirty="0">
                <a:latin typeface="Courier New" panose="02070309020205020404" pitchFamily="49" charset="0"/>
              </a:rPr>
              <a:t>AI Agent</a:t>
            </a:r>
          </a:p>
          <a:p>
            <a:pPr rtl="0">
              <a:buNone/>
            </a:pPr>
            <a:r>
              <a:rPr lang="en-US" altLang="zh-CN" sz="2000" dirty="0">
                <a:latin typeface="Courier New" panose="02070309020205020404" pitchFamily="49" charset="0"/>
              </a:rPr>
              <a:t>      ↓</a:t>
            </a:r>
          </a:p>
          <a:p>
            <a:pPr rtl="0">
              <a:buNone/>
            </a:pPr>
            <a:r>
              <a:rPr lang="en-US" altLang="zh-CN" sz="2000" dirty="0">
                <a:latin typeface="Courier New" panose="02070309020205020404" pitchFamily="49" charset="0"/>
              </a:rPr>
              <a:t>Project Files</a:t>
            </a:r>
          </a:p>
          <a:p>
            <a:pPr rtl="0">
              <a:buNone/>
            </a:pPr>
            <a:endParaRPr lang="en-US" altLang="zh-CN" sz="2000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US" altLang="zh-CN" sz="2000" dirty="0">
              <a:latin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/>
              <a:t>AI built into editor 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/>
              <a:t>Project-level file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/>
              <a:t>Can plan and execute multi-step changes</a:t>
            </a:r>
          </a:p>
          <a:p>
            <a:pPr>
              <a:buNone/>
            </a:pPr>
            <a:r>
              <a:rPr lang="zh-CN" altLang="en-US" sz="2000" dirty="0"/>
              <a:t>👉 </a:t>
            </a:r>
            <a:r>
              <a:rPr lang="en-US" altLang="zh-CN" sz="2000" i="1" dirty="0"/>
              <a:t>AI acts as an engineer</a:t>
            </a:r>
            <a:endParaRPr lang="en-US" altLang="zh-CN" sz="2000" dirty="0"/>
          </a:p>
          <a:p>
            <a:pPr rtl="0">
              <a:buNone/>
            </a:pPr>
            <a:endParaRPr lang="en-US" altLang="zh-CN" sz="2000" dirty="0">
              <a:latin typeface="Courier New" panose="0207030902020502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5781B0-B846-A776-52C5-B521EF77A1B6}"/>
              </a:ext>
            </a:extLst>
          </p:cNvPr>
          <p:cNvSpPr txBox="1"/>
          <p:nvPr/>
        </p:nvSpPr>
        <p:spPr>
          <a:xfrm>
            <a:off x="2110508" y="6289964"/>
            <a:ext cx="6276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The difference is not the AI model — it’s the architecture.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038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F630-FFC4-F3D2-E4C5-7CCD78FD8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9ED128-545F-F478-8908-41AF67DB8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"/>
            <a:ext cx="10504055" cy="969818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+mj-ea"/>
              </a:rPr>
              <a:t>Why Copilot Has Limits — An Architectural View</a:t>
            </a:r>
            <a:endParaRPr lang="zh-CN" altLang="en-US" sz="3600" dirty="0">
              <a:latin typeface="+mj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07CEB7-2571-CEFC-3E56-16A4CCF0B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26" y="969819"/>
            <a:ext cx="5497947" cy="51398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b="1" dirty="0"/>
              <a:t>GitHub Copilot</a:t>
            </a:r>
            <a:r>
              <a:rPr lang="en-US" altLang="zh-CN" sz="2400" b="1" dirty="0"/>
              <a:t> </a:t>
            </a:r>
            <a:r>
              <a:rPr lang="en-US" altLang="zh-CN" sz="1800" b="1" dirty="0"/>
              <a:t>--</a:t>
            </a:r>
            <a:r>
              <a:rPr lang="en-US" altLang="zh-CN" sz="1800" i="1" dirty="0"/>
              <a:t>Plugin-based assistant</a:t>
            </a:r>
          </a:p>
          <a:p>
            <a:pPr marL="0" indent="0">
              <a:buNone/>
            </a:pPr>
            <a:endParaRPr lang="en-US" altLang="zh-CN" sz="1800" i="1" dirty="0"/>
          </a:p>
          <a:p>
            <a:pPr marL="0" indent="0">
              <a:buNone/>
            </a:pPr>
            <a:r>
              <a:rPr lang="en-US" altLang="zh-CN" sz="1800" dirty="0"/>
              <a:t>Positioning: VS Code plugin → AI code completion assistant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Key Points: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Reads only open files + workspace index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Cannot proactively edit multiple files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AI is passive, triggered only by user input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Limitation: Restricted by VS Code APIs, no project-level awareness</a:t>
            </a:r>
          </a:p>
          <a:p>
            <a:pPr marL="0" indent="0">
              <a:buNone/>
            </a:pPr>
            <a:endParaRPr lang="en-US" altLang="zh-CN" sz="1800" i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18461D-5640-523A-27BD-102E804EC711}"/>
              </a:ext>
            </a:extLst>
          </p:cNvPr>
          <p:cNvSpPr txBox="1"/>
          <p:nvPr/>
        </p:nvSpPr>
        <p:spPr>
          <a:xfrm>
            <a:off x="5966691" y="969819"/>
            <a:ext cx="611678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800" b="1" dirty="0"/>
              <a:t>Cursor </a:t>
            </a:r>
            <a:r>
              <a:rPr lang="en-US" altLang="zh-CN" sz="2000" b="1" dirty="0"/>
              <a:t>--</a:t>
            </a:r>
            <a:r>
              <a:rPr lang="en-US" altLang="zh-CN" sz="2000" i="1" dirty="0"/>
              <a:t>AI-native editor</a:t>
            </a:r>
            <a:endParaRPr lang="en-US" altLang="zh-CN" sz="2000" dirty="0"/>
          </a:p>
          <a:p>
            <a:pPr rtl="0">
              <a:buNone/>
            </a:pPr>
            <a:endParaRPr lang="en-US" altLang="zh-CN" sz="20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altLang="zh-CN" sz="2000" dirty="0">
                <a:latin typeface="Courier New" panose="02070309020205020404" pitchFamily="49" charset="0"/>
              </a:rPr>
              <a:t>Developer Goal</a:t>
            </a:r>
          </a:p>
          <a:p>
            <a:pPr rtl="0">
              <a:buNone/>
            </a:pPr>
            <a:r>
              <a:rPr lang="en-US" altLang="zh-CN" sz="2000" dirty="0">
                <a:latin typeface="Courier New" panose="02070309020205020404" pitchFamily="49" charset="0"/>
              </a:rPr>
              <a:t>      ↓</a:t>
            </a:r>
          </a:p>
          <a:p>
            <a:pPr rtl="0">
              <a:buNone/>
            </a:pPr>
            <a:r>
              <a:rPr lang="en-US" altLang="zh-CN" sz="2000" dirty="0">
                <a:latin typeface="Courier New" panose="02070309020205020404" pitchFamily="49" charset="0"/>
              </a:rPr>
              <a:t>AI Agent</a:t>
            </a:r>
          </a:p>
          <a:p>
            <a:pPr rtl="0">
              <a:buNone/>
            </a:pPr>
            <a:r>
              <a:rPr lang="en-US" altLang="zh-CN" sz="2000" dirty="0">
                <a:latin typeface="Courier New" panose="02070309020205020404" pitchFamily="49" charset="0"/>
              </a:rPr>
              <a:t>      ↓</a:t>
            </a:r>
          </a:p>
          <a:p>
            <a:pPr rtl="0">
              <a:buNone/>
            </a:pPr>
            <a:r>
              <a:rPr lang="en-US" altLang="zh-CN" sz="2000" dirty="0">
                <a:latin typeface="Courier New" panose="02070309020205020404" pitchFamily="49" charset="0"/>
              </a:rPr>
              <a:t>Project Files</a:t>
            </a:r>
          </a:p>
          <a:p>
            <a:pPr rtl="0">
              <a:buNone/>
            </a:pPr>
            <a:endParaRPr lang="en-US" altLang="zh-CN" sz="2000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US" altLang="zh-CN" sz="2000" dirty="0">
              <a:latin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/>
              <a:t>AI built into editor 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/>
              <a:t>Project-level file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/>
              <a:t>Can plan and execute multi-step changes</a:t>
            </a:r>
          </a:p>
          <a:p>
            <a:pPr>
              <a:buNone/>
            </a:pPr>
            <a:r>
              <a:rPr lang="zh-CN" altLang="en-US" sz="2000" dirty="0"/>
              <a:t>👉 </a:t>
            </a:r>
            <a:r>
              <a:rPr lang="en-US" altLang="zh-CN" sz="2000" i="1" dirty="0"/>
              <a:t>AI acts as an engineer</a:t>
            </a:r>
            <a:endParaRPr lang="en-US" altLang="zh-CN" sz="2000" dirty="0"/>
          </a:p>
          <a:p>
            <a:pPr rtl="0">
              <a:buNone/>
            </a:pPr>
            <a:endParaRPr lang="en-US" altLang="zh-CN" sz="2000" dirty="0">
              <a:latin typeface="Courier New" panose="0207030902020502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510727-3BCB-929A-2579-105D50CE04E5}"/>
              </a:ext>
            </a:extLst>
          </p:cNvPr>
          <p:cNvSpPr txBox="1"/>
          <p:nvPr/>
        </p:nvSpPr>
        <p:spPr>
          <a:xfrm>
            <a:off x="2110508" y="6289964"/>
            <a:ext cx="6276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The difference is not the AI model — it’s the architecture.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4329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49CB8-218F-0B11-FDB7-69F018352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Copilot vs Cursor: Capability Comparison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0079AF1A-DA95-A215-4970-3DD92DA92E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0375597"/>
              </p:ext>
            </p:extLst>
          </p:nvPr>
        </p:nvGraphicFramePr>
        <p:xfrm>
          <a:off x="838200" y="1873236"/>
          <a:ext cx="10515600" cy="29260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8378432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529088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902693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Capability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GitHub Copilot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Cursor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466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Inline completion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27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Single-file edits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391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Project-wide understanding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⚠️ 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344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Multi-file refactoring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⚠️ Assisted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✅ </a:t>
                      </a:r>
                      <a:r>
                        <a:rPr lang="en-US"/>
                        <a:t>Autonomous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343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File search &amp; traversal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404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 / modify many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660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Engineering task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35898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96C8D17-D3AF-49DD-C9CC-DEC3253D88AA}"/>
              </a:ext>
            </a:extLst>
          </p:cNvPr>
          <p:cNvSpPr txBox="1"/>
          <p:nvPr/>
        </p:nvSpPr>
        <p:spPr>
          <a:xfrm>
            <a:off x="2890982" y="5454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Copilot is code-level. Cursor is project-level.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7670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F2AD4D-E807-D529-6340-618905ED1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Cursor Is Worth Introducing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ED8524-64F1-8882-047F-D75C2AB68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b="1" dirty="0"/>
              <a:t>Best-fit scenarios</a:t>
            </a:r>
          </a:p>
          <a:p>
            <a:r>
              <a:rPr lang="en-US" altLang="zh-CN" dirty="0"/>
              <a:t>Large or legacy codebases</a:t>
            </a:r>
          </a:p>
          <a:p>
            <a:r>
              <a:rPr lang="en-US" altLang="zh-CN" dirty="0"/>
              <a:t>Cross-file refactoring</a:t>
            </a:r>
          </a:p>
          <a:p>
            <a:r>
              <a:rPr lang="en-US" altLang="zh-CN" dirty="0"/>
              <a:t>Logging / error handling standardization</a:t>
            </a:r>
          </a:p>
          <a:p>
            <a:r>
              <a:rPr lang="en-US" altLang="zh-CN" dirty="0"/>
              <a:t>Onboarding to unfamiliar projects</a:t>
            </a:r>
          </a:p>
          <a:p>
            <a:r>
              <a:rPr lang="en-US" altLang="zh-CN" dirty="0"/>
              <a:t>Increasing senior engineers’ leverage</a:t>
            </a:r>
          </a:p>
          <a:p>
            <a:endParaRPr lang="en-US" altLang="zh-CN" dirty="0"/>
          </a:p>
          <a:p>
            <a:r>
              <a:rPr lang="en-US" altLang="zh-CN" b="1" dirty="0"/>
              <a:t>Adoption strategy</a:t>
            </a:r>
            <a:r>
              <a:rPr lang="zh-CN" altLang="en-US" b="1" dirty="0"/>
              <a:t>（现实、不激进）</a:t>
            </a:r>
          </a:p>
          <a:p>
            <a:r>
              <a:rPr lang="zh-CN" altLang="en-US" dirty="0"/>
              <a:t>✅ </a:t>
            </a:r>
            <a:r>
              <a:rPr lang="en-US" altLang="zh-CN" dirty="0"/>
              <a:t>Cursor is </a:t>
            </a:r>
            <a:r>
              <a:rPr lang="en-US" altLang="zh-CN" b="1" dirty="0"/>
              <a:t>not a replacement</a:t>
            </a:r>
            <a:r>
              <a:rPr lang="en-US" altLang="zh-CN" dirty="0"/>
              <a:t> for Copilot</a:t>
            </a:r>
            <a:br>
              <a:rPr lang="en-US" altLang="zh-CN" dirty="0"/>
            </a:br>
            <a:r>
              <a:rPr lang="zh-CN" altLang="en-US" dirty="0"/>
              <a:t>✅ </a:t>
            </a:r>
            <a:r>
              <a:rPr lang="en-US" altLang="zh-CN" dirty="0"/>
              <a:t>Copilot → daily coding</a:t>
            </a:r>
            <a:br>
              <a:rPr lang="en-US" altLang="zh-CN" dirty="0"/>
            </a:br>
            <a:r>
              <a:rPr lang="zh-CN" altLang="en-US" dirty="0"/>
              <a:t>✅ </a:t>
            </a:r>
            <a:r>
              <a:rPr lang="en-US" altLang="zh-CN" dirty="0"/>
              <a:t>Cursor → engineering-level tasks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9576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CE8A8-D987-D0AD-7EC7-189ABCAE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Demo-add new feature for comparison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3AD0DD-ABE6-73F1-81A0-45C295A5F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79" y="1431077"/>
            <a:ext cx="5552552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1AA9A6-AD63-C36E-32BF-3AA4B3A66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631" y="1358463"/>
            <a:ext cx="7163460" cy="54995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166146-56C5-9620-94E4-BC74C062BA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36" y="0"/>
            <a:ext cx="7772400" cy="457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705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CE8A8-D987-D0AD-7EC7-189ABCAE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Demo-add new feature for comparison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3AD0DD-ABE6-73F1-81A0-45C295A5F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79" y="1431077"/>
            <a:ext cx="5552552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1AA9A6-AD63-C36E-32BF-3AA4B3A66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631" y="1358463"/>
            <a:ext cx="7163460" cy="54995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166146-56C5-9620-94E4-BC74C062BA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818800"/>
            <a:ext cx="7772400" cy="457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021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ED0C8-A87C-4556-2153-B4B107F6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7DCCC6-C611-5E57-98A2-77288A94D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852" y="1825625"/>
            <a:ext cx="7734296" cy="4351338"/>
          </a:xfrm>
        </p:spPr>
      </p:pic>
    </p:spTree>
    <p:extLst>
      <p:ext uri="{BB962C8B-B14F-4D97-AF65-F5344CB8AC3E}">
        <p14:creationId xmlns:p14="http://schemas.microsoft.com/office/powerpoint/2010/main" val="2290283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EC9AD-1058-00E7-26C1-D417DD246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Codebase Indexing: Cursor vs VS Code + Copilot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E8DF6-A68A-18C7-FC60-BFDEBB58D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55024" cy="3650017"/>
          </a:xfrm>
        </p:spPr>
        <p:txBody>
          <a:bodyPr>
            <a:normAutofit/>
          </a:bodyPr>
          <a:lstStyle/>
          <a:p>
            <a:r>
              <a:rPr lang="en-US" sz="1600" b="1" dirty="0"/>
              <a:t>VS Code + GitHub Copilot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Context is on-demand and ephemeral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Open 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Selected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Manually attached files in Copilot Chat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No explicit step to scan or index the entire repository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Cross-file reasoning depends heavily on </a:t>
            </a:r>
            <a:r>
              <a:rPr lang="en-US" sz="1600" b="1" dirty="0"/>
              <a:t>what the developer provides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Well suited for </a:t>
            </a:r>
            <a:r>
              <a:rPr lang="en-US" sz="1600" b="1" dirty="0"/>
              <a:t>local edits, code completion, and guided refactors</a:t>
            </a:r>
            <a:endParaRPr lang="en-US" sz="1600" dirty="0"/>
          </a:p>
          <a:p>
            <a:pPr marL="0" indent="0">
              <a:buNone/>
            </a:pPr>
            <a:endParaRPr lang="en-C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3A4D10-29E8-C106-DDE7-40AF61601EB6}"/>
              </a:ext>
            </a:extLst>
          </p:cNvPr>
          <p:cNvSpPr txBox="1"/>
          <p:nvPr/>
        </p:nvSpPr>
        <p:spPr>
          <a:xfrm>
            <a:off x="6734288" y="1670910"/>
            <a:ext cx="53196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Cursor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Builds a project-wide semantic index by default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Scans and understands the entire repository when a project is opened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Automatically identifies related files, call chains, and dependencies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AI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Answer questions across the whole codebase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Plan and apply multi-file changes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 large-scale refactors with consistent context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Treats the </a:t>
            </a:r>
            <a:r>
              <a:rPr lang="en-US" b="1" dirty="0"/>
              <a:t>entire codebase as the default unit of context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BDE02E-27E8-96F5-E349-10E1545548D6}"/>
              </a:ext>
            </a:extLst>
          </p:cNvPr>
          <p:cNvSpPr txBox="1"/>
          <p:nvPr/>
        </p:nvSpPr>
        <p:spPr>
          <a:xfrm>
            <a:off x="2490395" y="5690106"/>
            <a:ext cx="60995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Difference</a:t>
            </a:r>
          </a:p>
          <a:p>
            <a:r>
              <a:rPr lang="en-US" b="1" dirty="0"/>
              <a:t>Copilot reasons over the context you give it.</a:t>
            </a:r>
            <a:br>
              <a:rPr lang="en-US" b="1" dirty="0"/>
            </a:br>
            <a:r>
              <a:rPr lang="en-US" b="1" dirty="0"/>
              <a:t>Cursor reasons over the context it already understands.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073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5585885-2B59-40B5-C6B2-A2A7C6420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17" y="1420458"/>
            <a:ext cx="6081864" cy="35388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14E02F-164B-11B3-0F2C-688BEC56AF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86521"/>
            <a:ext cx="5863773" cy="413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806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4195</TotalTime>
  <Words>821</Words>
  <Application>Microsoft Macintosh PowerPoint</Application>
  <PresentationFormat>Widescreen</PresentationFormat>
  <Paragraphs>161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Arial</vt:lpstr>
      <vt:lpstr>Courier New</vt:lpstr>
      <vt:lpstr>Office 主题​​</vt:lpstr>
      <vt:lpstr>From GitHub Copilot to Cursor Why We Need a Project-Level AI</vt:lpstr>
      <vt:lpstr>What Cursor</vt:lpstr>
      <vt:lpstr>Current Situation of Github and Cursor </vt:lpstr>
      <vt:lpstr>Current Situation of Github and Cursor </vt:lpstr>
      <vt:lpstr>GitHub Copilot: A Great Code-Level Assistant</vt:lpstr>
      <vt:lpstr>Copilot’s Ceiling in Real Engineering Work</vt:lpstr>
      <vt:lpstr>Why Copilot Has Limits — An Architectural View</vt:lpstr>
      <vt:lpstr>Why Copilot Has Limits — An Architectural View</vt:lpstr>
      <vt:lpstr>Copilot vs Cursor: Capability Comparison</vt:lpstr>
      <vt:lpstr>Why Cursor Is Worth Introducing</vt:lpstr>
      <vt:lpstr>Demo-add new feature for comparison </vt:lpstr>
      <vt:lpstr>Demo-add new feature for comparison </vt:lpstr>
      <vt:lpstr>PowerPoint Presentation</vt:lpstr>
      <vt:lpstr>Codebase Indexing: Cursor vs VS Code + Copilot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GitHub Copilot to Cursor Why We Need a Project-Level AI</dc:title>
  <dc:creator>浩 刘</dc:creator>
  <cp:lastModifiedBy>浩 刘</cp:lastModifiedBy>
  <cp:revision>31</cp:revision>
  <dcterms:created xsi:type="dcterms:W3CDTF">2025-12-28T13:47:27Z</dcterms:created>
  <dcterms:modified xsi:type="dcterms:W3CDTF">2026-01-01T04:47:33Z</dcterms:modified>
</cp:coreProperties>
</file>
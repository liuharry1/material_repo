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7" r:id="rId1"/>
  </p:sldMasterIdLst>
  <p:notesMasterIdLst>
    <p:notesMasterId r:id="rId26"/>
  </p:notesMasterIdLst>
  <p:sldIdLst>
    <p:sldId id="256" r:id="rId2"/>
    <p:sldId id="278" r:id="rId3"/>
    <p:sldId id="301" r:id="rId4"/>
    <p:sldId id="287" r:id="rId5"/>
    <p:sldId id="288" r:id="rId6"/>
    <p:sldId id="290" r:id="rId7"/>
    <p:sldId id="303" r:id="rId8"/>
    <p:sldId id="302" r:id="rId9"/>
    <p:sldId id="292" r:id="rId10"/>
    <p:sldId id="295" r:id="rId11"/>
    <p:sldId id="297" r:id="rId12"/>
    <p:sldId id="300" r:id="rId13"/>
    <p:sldId id="298" r:id="rId14"/>
    <p:sldId id="294" r:id="rId15"/>
    <p:sldId id="293" r:id="rId16"/>
    <p:sldId id="291" r:id="rId17"/>
    <p:sldId id="289" r:id="rId18"/>
    <p:sldId id="279" r:id="rId19"/>
    <p:sldId id="280" r:id="rId20"/>
    <p:sldId id="284" r:id="rId21"/>
    <p:sldId id="283" r:id="rId22"/>
    <p:sldId id="281" r:id="rId23"/>
    <p:sldId id="282" r:id="rId24"/>
    <p:sldId id="30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07" autoAdjust="0"/>
    <p:restoredTop sz="64830" autoAdjust="0"/>
  </p:normalViewPr>
  <p:slideViewPr>
    <p:cSldViewPr snapToGrid="0">
      <p:cViewPr varScale="1">
        <p:scale>
          <a:sx n="74" d="100"/>
          <a:sy n="74" d="100"/>
        </p:scale>
        <p:origin x="1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47F2-EF06-411F-AFCA-9AECA3FD70F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BB3E2-00FC-4EBF-AE58-33286D8A9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7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anthropics</a:t>
            </a:r>
            <a:r>
              <a:rPr lang="en-US" dirty="0"/>
              <a:t>/skills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agentskills</a:t>
            </a:r>
            <a:r>
              <a:rPr lang="en-US" dirty="0"/>
              <a:t>/</a:t>
            </a:r>
            <a:r>
              <a:rPr lang="en-US" dirty="0" err="1"/>
              <a:t>agentskills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B3E2-00FC-4EBF-AE58-33286D8A96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11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</a:t>
            </a:r>
          </a:p>
          <a:p>
            <a:r>
              <a:rPr lang="en-US" dirty="0"/>
              <a:t>  "model": "</a:t>
            </a:r>
            <a:r>
              <a:rPr lang="en-US" dirty="0" err="1"/>
              <a:t>qwen</a:t>
            </a:r>
            <a:r>
              <a:rPr lang="en-US" dirty="0"/>
              <a:t>-plus",</a:t>
            </a:r>
          </a:p>
          <a:p>
            <a:r>
              <a:rPr lang="en-US" dirty="0"/>
              <a:t>  "messages": [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"role": "system",</a:t>
            </a:r>
          </a:p>
          <a:p>
            <a:r>
              <a:rPr lang="en-US" dirty="0"/>
              <a:t>      "content": "You are an intelligent knowledge assistant. For any uncertain information, search the knowledge base first.\n\n**Core Principles:**\n- Always use the search tool for specific questions - don't rely on pre-trained knowledge\n- Perform multiple searches with different keywords if needed\n\n**Response Guidelines:**\n- Answer based on retrieved documents, use [1], [2] for citations\n- **Images:** When results contain Markdown images ![alt](</a:t>
            </a:r>
            <a:r>
              <a:rPr lang="en-US" dirty="0" err="1"/>
              <a:t>url</a:t>
            </a:r>
            <a:r>
              <a:rPr lang="en-US" dirty="0"/>
              <a:t>), include them directly - don't describe, just embed\n- Reply in the user's language\n- If no relevant information found, honestly inform the user\n- Do NOT add a \"References:\" section\n"</a:t>
            </a:r>
          </a:p>
          <a:p>
            <a:r>
              <a:rPr lang="en-US" dirty="0"/>
              <a:t>    },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"role": "user",</a:t>
            </a:r>
          </a:p>
          <a:p>
            <a:r>
              <a:rPr lang="en-US" dirty="0"/>
              <a:t>      "content": "</a:t>
            </a:r>
            <a:r>
              <a:rPr lang="zh-CN" altLang="en-US" dirty="0"/>
              <a:t>刘浩是干什么的？</a:t>
            </a:r>
            <a:r>
              <a:rPr lang="en-US" altLang="zh-CN" dirty="0"/>
              <a:t>"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],</a:t>
            </a:r>
          </a:p>
          <a:p>
            <a:r>
              <a:rPr lang="en-US" altLang="zh-CN" dirty="0"/>
              <a:t>  "</a:t>
            </a:r>
            <a:r>
              <a:rPr lang="en-US" dirty="0"/>
              <a:t>functions": [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"name": "</a:t>
            </a:r>
            <a:r>
              <a:rPr lang="en-US" dirty="0" err="1"/>
              <a:t>search_memory_test_knowledge</a:t>
            </a:r>
            <a:r>
              <a:rPr lang="en-US" dirty="0"/>
              <a:t>",</a:t>
            </a:r>
          </a:p>
          <a:p>
            <a:r>
              <a:rPr lang="en-US" dirty="0"/>
              <a:t>      "description": "Search the knowledge base for various information: personal profiles, positions, work experience, preferences, technical documents, project information, etc.\n\n**Use Cases:** \n- When user asks about any information you are uncertain about\n- Query specific person's information (position, experience, preferences, etc.)\n- Find technical documents, operation guides, project materials\n- Any knowledge that needs verification or supplementation\n\n**Query Tips:**\n- Extract core keywords for searching\n- Provide multiple query terms for more comprehensive results\n- If search results are insufficient, retry with different keywords\n",</a:t>
            </a:r>
          </a:p>
          <a:p>
            <a:r>
              <a:rPr lang="en-US" dirty="0"/>
              <a:t>      "parameters": {</a:t>
            </a:r>
          </a:p>
          <a:p>
            <a:r>
              <a:rPr lang="en-US" dirty="0"/>
              <a:t>        "type": "object",</a:t>
            </a:r>
          </a:p>
          <a:p>
            <a:r>
              <a:rPr lang="en-US" dirty="0"/>
              <a:t>        "properties": {</a:t>
            </a:r>
          </a:p>
          <a:p>
            <a:r>
              <a:rPr lang="en-US" dirty="0"/>
              <a:t>          "queries": {</a:t>
            </a:r>
          </a:p>
          <a:p>
            <a:r>
              <a:rPr lang="en-US" dirty="0"/>
              <a:t>            "type": "array",</a:t>
            </a:r>
          </a:p>
          <a:p>
            <a:r>
              <a:rPr lang="en-US" dirty="0"/>
              <a:t>            "items": {</a:t>
            </a:r>
          </a:p>
          <a:p>
            <a:r>
              <a:rPr lang="en-US" dirty="0"/>
              <a:t>              "type": "string"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"description": "List of 2-3 search queries covering different aspects of the question. Each query should be 2-10 words and explore different angles (configuration, troubleshooting, documentation, error codes, etc.)."</a:t>
            </a:r>
          </a:p>
          <a:p>
            <a:r>
              <a:rPr lang="en-US" dirty="0"/>
              <a:t>          }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"required": [</a:t>
            </a:r>
          </a:p>
          <a:p>
            <a:r>
              <a:rPr lang="en-US" dirty="0"/>
              <a:t>          "queries"</a:t>
            </a:r>
          </a:p>
          <a:p>
            <a:r>
              <a:rPr lang="en-US" dirty="0"/>
              <a:t>        ]</a:t>
            </a:r>
          </a:p>
          <a:p>
            <a:r>
              <a:rPr lang="en-US" dirty="0"/>
              <a:t>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],</a:t>
            </a:r>
          </a:p>
          <a:p>
            <a:r>
              <a:rPr lang="en-US" dirty="0"/>
              <a:t>  "</a:t>
            </a:r>
            <a:r>
              <a:rPr lang="en-US" dirty="0" err="1"/>
              <a:t>function_call</a:t>
            </a:r>
            <a:r>
              <a:rPr lang="en-US" dirty="0"/>
              <a:t>": "auto"</a:t>
            </a:r>
          </a:p>
          <a:p>
            <a:r>
              <a:rPr lang="en-US" dirty="0"/>
              <a:t>}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B3E2-00FC-4EBF-AE58-33286D8A96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29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</a:t>
            </a:r>
          </a:p>
          <a:p>
            <a:r>
              <a:rPr lang="en-US" dirty="0"/>
              <a:t>  "model": "</a:t>
            </a:r>
            <a:r>
              <a:rPr lang="en-US" dirty="0" err="1"/>
              <a:t>qwen</a:t>
            </a:r>
            <a:r>
              <a:rPr lang="en-US" dirty="0"/>
              <a:t>-plus",</a:t>
            </a:r>
          </a:p>
          <a:p>
            <a:r>
              <a:rPr lang="en-US" dirty="0"/>
              <a:t>  "messages": [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"role": "system",</a:t>
            </a:r>
          </a:p>
          <a:p>
            <a:r>
              <a:rPr lang="en-US" dirty="0"/>
              <a:t>      "content": "You are an intelligent knowledge assistant. For any uncertain information, search the knowledge base first.\n\n**Core Principles:**\n- Always use the search tool for specific questions - don't rely on pre-trained knowledge\n- Perform multiple searches with different keywords if needed\n\n**Response Guidelines:**\n- Answer based on retrieved documents, use [1], [2] for citations\n- **Images:** When results contain Markdown images ![alt](</a:t>
            </a:r>
            <a:r>
              <a:rPr lang="en-US" dirty="0" err="1"/>
              <a:t>url</a:t>
            </a:r>
            <a:r>
              <a:rPr lang="en-US" dirty="0"/>
              <a:t>), include them directly - don't describe, just embed\n- Reply in the user's language\n- If no relevant information found, honestly inform the user\n- Do NOT add a \"References:\" section\n"</a:t>
            </a:r>
          </a:p>
          <a:p>
            <a:r>
              <a:rPr lang="en-US" dirty="0"/>
              <a:t>    },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"role": "user",</a:t>
            </a:r>
          </a:p>
          <a:p>
            <a:r>
              <a:rPr lang="en-US" dirty="0"/>
              <a:t>      "content": "</a:t>
            </a:r>
            <a:r>
              <a:rPr lang="zh-CN" altLang="en-US" dirty="0"/>
              <a:t>刘浩是干什么的？</a:t>
            </a:r>
            <a:r>
              <a:rPr lang="en-US" altLang="zh-CN" dirty="0"/>
              <a:t>"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],</a:t>
            </a:r>
          </a:p>
          <a:p>
            <a:r>
              <a:rPr lang="en-US" altLang="zh-CN" dirty="0"/>
              <a:t>  "</a:t>
            </a:r>
            <a:r>
              <a:rPr lang="en-US" dirty="0"/>
              <a:t>functions": [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"name": "</a:t>
            </a:r>
            <a:r>
              <a:rPr lang="en-US" dirty="0" err="1"/>
              <a:t>search_memory_test_knowledge</a:t>
            </a:r>
            <a:r>
              <a:rPr lang="en-US" dirty="0"/>
              <a:t>",</a:t>
            </a:r>
          </a:p>
          <a:p>
            <a:r>
              <a:rPr lang="en-US" dirty="0"/>
              <a:t>      "description": "Search the knowledge base for various information: personal profiles, positions, work experience, preferences, technical documents, project information, etc.\n\n**Use Cases:** \n- When user asks about any information you are uncertain about\n- Query specific person's information (position, experience, preferences, etc.)\n- Find technical documents, operation guides, project materials\n- Any knowledge that needs verification or supplementation\n\n**Query Tips:**\n- Extract core keywords for searching\n- Provide multiple query terms for more comprehensive results\n- If search results are insufficient, retry with different keywords\n",</a:t>
            </a:r>
          </a:p>
          <a:p>
            <a:r>
              <a:rPr lang="en-US" dirty="0"/>
              <a:t>      "parameters": {</a:t>
            </a:r>
          </a:p>
          <a:p>
            <a:r>
              <a:rPr lang="en-US" dirty="0"/>
              <a:t>        "type": "object",</a:t>
            </a:r>
          </a:p>
          <a:p>
            <a:r>
              <a:rPr lang="en-US" dirty="0"/>
              <a:t>        "properties": {</a:t>
            </a:r>
          </a:p>
          <a:p>
            <a:r>
              <a:rPr lang="en-US" dirty="0"/>
              <a:t>          "queries": {</a:t>
            </a:r>
          </a:p>
          <a:p>
            <a:r>
              <a:rPr lang="en-US" dirty="0"/>
              <a:t>            "type": "array",</a:t>
            </a:r>
          </a:p>
          <a:p>
            <a:r>
              <a:rPr lang="en-US" dirty="0"/>
              <a:t>            "items": {</a:t>
            </a:r>
          </a:p>
          <a:p>
            <a:r>
              <a:rPr lang="en-US" dirty="0"/>
              <a:t>              "type": "string"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"description": "List of 2-3 search queries covering different aspects of the question. Each query should be 2-10 words and explore different angles (configuration, troubleshooting, documentation, error codes, etc.)."</a:t>
            </a:r>
          </a:p>
          <a:p>
            <a:r>
              <a:rPr lang="en-US" dirty="0"/>
              <a:t>          }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"required": [</a:t>
            </a:r>
          </a:p>
          <a:p>
            <a:r>
              <a:rPr lang="en-US" dirty="0"/>
              <a:t>          "queries"</a:t>
            </a:r>
          </a:p>
          <a:p>
            <a:r>
              <a:rPr lang="en-US" dirty="0"/>
              <a:t>        ]</a:t>
            </a:r>
          </a:p>
          <a:p>
            <a:r>
              <a:rPr lang="en-US" dirty="0"/>
              <a:t>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],</a:t>
            </a:r>
          </a:p>
          <a:p>
            <a:r>
              <a:rPr lang="en-US" dirty="0"/>
              <a:t>  "</a:t>
            </a:r>
            <a:r>
              <a:rPr lang="en-US" dirty="0" err="1"/>
              <a:t>function_call</a:t>
            </a:r>
            <a:r>
              <a:rPr lang="en-US" dirty="0"/>
              <a:t>": "auto"</a:t>
            </a:r>
          </a:p>
          <a:p>
            <a:r>
              <a:rPr lang="en-US" dirty="0"/>
              <a:t>}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B3E2-00FC-4EBF-AE58-33286D8A96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6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https://cursor.com/docs/context/skills</a:t>
            </a:r>
          </a:p>
          <a:p>
            <a:r>
              <a:rPr lang="en-CN" dirty="0"/>
              <a:t>https://github.com/anthropics/skills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它解决了传统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交互的三大痛点：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告别重复指导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：每次对话不再需要重新说明工作流程，技能包创建一次，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就能在所有对话中自动使用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高效利用资源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：采用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渐进式加载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机制，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只在需要时才调用技能，避免上下文窗口爆炸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专业能力加持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：将通用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转变为特定领域的专家，比如代码执行、文档处理、数据分析等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简单来说，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Skills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让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聪明的实习生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变成了拥有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专家智库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，需要解决什么问题，就立刻召唤对应的专家上场。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B3E2-00FC-4EBF-AE58-33286D8A96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27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4901F-6FCB-8B50-877F-EE1463C43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01BD6-9FC3-844E-ECB4-1BC19F7B8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AAF49-AD32-9B50-0FEF-CF60BECC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anthropics</a:t>
            </a:r>
            <a:r>
              <a:rPr lang="en-US" dirty="0"/>
              <a:t>/skills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agentskills</a:t>
            </a:r>
            <a:r>
              <a:rPr lang="en-US" dirty="0"/>
              <a:t>/</a:t>
            </a:r>
            <a:r>
              <a:rPr lang="en-US" dirty="0" err="1"/>
              <a:t>agentskills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anthropics</a:t>
            </a:r>
            <a:r>
              <a:rPr lang="en-US" dirty="0"/>
              <a:t>/skills/tree/main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www.anthropic.com</a:t>
            </a:r>
            <a:r>
              <a:rPr lang="en-US" dirty="0"/>
              <a:t>/engineering/equipping-agents-for-the-real-world-with-agent-skills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A433E-4966-E0FB-5A13-0D9C31E7B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B3E2-00FC-4EBF-AE58-33286D8A96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7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support.claude.com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/articles/12512198-how-to-create-custom-skills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anthropics</a:t>
            </a:r>
            <a:r>
              <a:rPr lang="en-US" dirty="0"/>
              <a:t>/skills/tree/main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BB3E2-00FC-4EBF-AE58-33286D8A96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21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2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9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0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4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3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6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3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1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97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7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E9A56-284A-43C4-96E2-707E8A1EA8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856E2-4293-4F61-8AF1-B8578369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5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link.zhihu.com/?target=https%3A//agentskills.i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hida.zhihu.com/search?content_id=267923622&amp;content_type=Article&amp;match_order=1&amp;q=Anthropic&amp;zd_token=eyJhbGciOiJIUzI1NiIsInR5cCI6IkpXVCJ9.eyJpc3MiOiJ6aGlkYV9zZXJ2ZXIiLCJleHAiOjE3NjcwOTk3NjMsInEiOiJBbnRocm9waWMiLCJ6aGlkYV9zb3VyY2UiOiJlbnRpdHkiLCJjb250ZW50X2lkIjoyNjc5MjM2MjIsImNvbnRlbnRfdHlwZSI6IkFydGljbGUiLCJtYXRjaF9vcmRlciI6MSwiemRfdG9rZW4iOm51bGx9.JAfxhv8Z88XBAUt6L0pjYiGMNtRHlPn_XTU-GhawL9k&amp;zhida_source=entity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35E6-6578-DC50-5C94-A9300883A6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 Skills Intro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340C0-A250-A1B6-1EAB-1F91D8105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98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81" y="121185"/>
            <a:ext cx="10620260" cy="1002535"/>
          </a:xfrm>
        </p:spPr>
        <p:txBody>
          <a:bodyPr>
            <a:normAutofit/>
          </a:bodyPr>
          <a:lstStyle/>
          <a:p>
            <a:r>
              <a:rPr lang="en-US" b="1" dirty="0"/>
              <a:t>Function Calls</a:t>
            </a:r>
            <a:r>
              <a:rPr lang="en-US" sz="1800" b="1" dirty="0"/>
              <a:t>-- </a:t>
            </a:r>
            <a:r>
              <a:rPr lang="en-US" sz="2000" b="1" i="1" dirty="0"/>
              <a:t>Giving Models the Ability to Act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90BB-55E5-57DA-4C95-3C456F9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64" y="1123720"/>
            <a:ext cx="5781778" cy="5453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are Function Calls?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 mechanism for LLMs to invoke external functions or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Enables models to go beyond text generation</a:t>
            </a:r>
          </a:p>
          <a:p>
            <a:pPr marL="0" indent="0">
              <a:buNone/>
            </a:pPr>
            <a:r>
              <a:rPr lang="en-US" sz="2400" b="1" dirty="0"/>
              <a:t>What Function Calls Enable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Call APIs (e.g. send email, query database)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Execute actions based on structured outputs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Integrate LLMs into real systems</a:t>
            </a:r>
          </a:p>
          <a:p>
            <a:pPr marL="0" indent="0">
              <a:buNone/>
            </a:pPr>
            <a:r>
              <a:rPr lang="en-US" sz="2400" b="1" dirty="0"/>
              <a:t>Key Value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Models can </a:t>
            </a:r>
            <a:r>
              <a:rPr lang="en-US" sz="1900" i="1" dirty="0"/>
              <a:t>act</a:t>
            </a:r>
            <a:r>
              <a:rPr lang="en-US" sz="1900" dirty="0"/>
              <a:t>, not just </a:t>
            </a:r>
            <a:r>
              <a:rPr lang="en-US" sz="1900" i="1" dirty="0"/>
              <a:t>respond</a:t>
            </a:r>
            <a:endParaRPr lang="en-US" sz="1900" dirty="0"/>
          </a:p>
          <a:p>
            <a:pPr marL="0" indent="0">
              <a:buNone/>
            </a:pPr>
            <a:r>
              <a:rPr lang="en-US" sz="2400" b="1" dirty="0"/>
              <a:t>Limitation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Function calls only define </a:t>
            </a:r>
            <a:r>
              <a:rPr lang="en-US" sz="1900" b="1" dirty="0"/>
              <a:t>what can be executed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They do not define </a:t>
            </a:r>
            <a:r>
              <a:rPr lang="en-US" sz="1900" b="1" dirty="0"/>
              <a:t>how tasks should be performed</a:t>
            </a:r>
            <a:endParaRPr lang="en-US" sz="19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8" name="Picture 4" descr="Model Context Protocol (MCP) vs Function Calling: A Deep Dive into AI  Integration Architectures - MarkTechPost">
            <a:extLst>
              <a:ext uri="{FF2B5EF4-FFF2-40B4-BE49-F238E27FC236}">
                <a16:creationId xmlns:a16="http://schemas.microsoft.com/office/drawing/2014/main" id="{6148FAEA-8895-3374-7B0D-E3CD480F8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990" y="1123720"/>
            <a:ext cx="6130646" cy="2841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659C89-C8EB-26FE-1DF0-91514F4A3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804" y="4118475"/>
            <a:ext cx="3642175" cy="24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7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81" y="121185"/>
            <a:ext cx="10620260" cy="1002535"/>
          </a:xfrm>
        </p:spPr>
        <p:txBody>
          <a:bodyPr>
            <a:normAutofit/>
          </a:bodyPr>
          <a:lstStyle/>
          <a:p>
            <a:r>
              <a:rPr lang="en-US" b="1" dirty="0"/>
              <a:t>Function Calls</a:t>
            </a:r>
            <a:r>
              <a:rPr lang="en-US" sz="1800" b="1" dirty="0"/>
              <a:t>-- </a:t>
            </a:r>
            <a:r>
              <a:rPr lang="en-US" sz="2000" b="1" i="1" dirty="0"/>
              <a:t>Giving Models the Ability to Act</a:t>
            </a:r>
            <a:endParaRPr lang="en-US" sz="20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4D4575-13E4-CD93-7A6E-82FEF0852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47777"/>
            <a:ext cx="5899230" cy="2500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8723BD-A537-A5B7-988D-61DEDEFD7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40" y="1747777"/>
            <a:ext cx="4531576" cy="5110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97AFC7-A5AD-20F9-8D70-A7D1100FBAA5}"/>
              </a:ext>
            </a:extLst>
          </p:cNvPr>
          <p:cNvSpPr txBox="1"/>
          <p:nvPr/>
        </p:nvSpPr>
        <p:spPr>
          <a:xfrm>
            <a:off x="569536" y="1251082"/>
            <a:ext cx="4870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System prompt + messges + function definations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F0664-532B-F0A7-5EDD-54CC42AD3F41}"/>
              </a:ext>
            </a:extLst>
          </p:cNvPr>
          <p:cNvSpPr txBox="1"/>
          <p:nvPr/>
        </p:nvSpPr>
        <p:spPr>
          <a:xfrm>
            <a:off x="6096000" y="1251082"/>
            <a:ext cx="213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Llm</a:t>
            </a:r>
            <a:r>
              <a:rPr lang="en-US" dirty="0"/>
              <a:t> =&gt; F</a:t>
            </a:r>
            <a:r>
              <a:rPr lang="en-CN" dirty="0"/>
              <a:t>unction calls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F8A009E-6D57-5BD8-EC98-A7E3CEE5DB66}"/>
              </a:ext>
            </a:extLst>
          </p:cNvPr>
          <p:cNvSpPr/>
          <p:nvPr/>
        </p:nvSpPr>
        <p:spPr>
          <a:xfrm>
            <a:off x="5335929" y="2906303"/>
            <a:ext cx="760071" cy="3693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0747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37" y="121185"/>
            <a:ext cx="10620260" cy="1002535"/>
          </a:xfrm>
        </p:spPr>
        <p:txBody>
          <a:bodyPr>
            <a:normAutofit/>
          </a:bodyPr>
          <a:lstStyle/>
          <a:p>
            <a:r>
              <a:rPr lang="en-US" b="1" dirty="0"/>
              <a:t>MCP</a:t>
            </a:r>
            <a:r>
              <a:rPr lang="en-US" sz="1800" b="1" dirty="0"/>
              <a:t>-- (Model Context Protocol)</a:t>
            </a:r>
            <a:r>
              <a:rPr lang="en-US" sz="1800" b="1" i="1" dirty="0"/>
              <a:t> Standardizing How Models Connect to the World</a:t>
            </a:r>
            <a:endParaRPr lang="en-US" sz="1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90BB-55E5-57DA-4C95-3C456F9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37" y="1123720"/>
            <a:ext cx="5618602" cy="5453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is MCP?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 standardized protocol for connecting models to tools, data, and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Focuses on safety, consistency, and interoperability</a:t>
            </a:r>
          </a:p>
          <a:p>
            <a:pPr marL="0" indent="0">
              <a:buNone/>
            </a:pPr>
            <a:r>
              <a:rPr lang="en-US" sz="2400" b="1" dirty="0"/>
              <a:t>What MCP Solves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Tool discovery and registration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Secure access to external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Decoupling agents from tool implementations</a:t>
            </a:r>
          </a:p>
          <a:p>
            <a:pPr marL="0" indent="0">
              <a:buNone/>
            </a:pPr>
            <a:r>
              <a:rPr lang="en-US" sz="2400" b="1" dirty="0"/>
              <a:t>Key Value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universal “connector layer” for agents</a:t>
            </a:r>
          </a:p>
          <a:p>
            <a:pPr marL="0" indent="0">
              <a:buNone/>
            </a:pPr>
            <a:r>
              <a:rPr lang="en-US" sz="2400" b="1" dirty="0"/>
              <a:t>Still Missing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MCP provides access, </a:t>
            </a:r>
            <a:r>
              <a:rPr lang="en-US" sz="1800" b="1" dirty="0"/>
              <a:t>not decision-making or strategy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AC1F8A-9D7C-30F8-53FE-EC4F72FB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023" y="1073433"/>
            <a:ext cx="5827923" cy="2978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DA811E-5895-05FA-727F-1F8A52214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022" y="4170755"/>
            <a:ext cx="5827923" cy="258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1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29" y="121185"/>
            <a:ext cx="10620260" cy="1002535"/>
          </a:xfrm>
        </p:spPr>
        <p:txBody>
          <a:bodyPr/>
          <a:lstStyle/>
          <a:p>
            <a:r>
              <a:rPr lang="en-US" dirty="0"/>
              <a:t>The Problem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90BB-55E5-57DA-4C95-3C456F9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29" y="1123721"/>
            <a:ext cx="10939749" cy="5453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Why Tools and MCP Are Not Enough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Current Pain Points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Agents have tools but lack consistent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Same task produces different results every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Prompts grow long</a:t>
            </a:r>
            <a:r>
              <a:rPr lang="en-US" sz="1800" dirty="0"/>
              <a:t> and hard to maintain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Expert knowledge lives only in prompts or people’s heads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Multi-step tasks are brittle and error-prone</a:t>
            </a:r>
          </a:p>
          <a:p>
            <a:pPr marL="0" indent="0">
              <a:buNone/>
            </a:pPr>
            <a:r>
              <a:rPr lang="en-US" b="1" dirty="0"/>
              <a:t>Root Cause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We have </a:t>
            </a:r>
            <a:r>
              <a:rPr lang="en-US" sz="1800" b="1" dirty="0"/>
              <a:t>capabilities</a:t>
            </a:r>
            <a:r>
              <a:rPr lang="en-US" sz="1800" dirty="0"/>
              <a:t>, but not </a:t>
            </a:r>
            <a:r>
              <a:rPr lang="en-US" sz="1800" b="1" dirty="0"/>
              <a:t>expert workflows</a:t>
            </a:r>
            <a:endParaRPr lang="en-US" sz="1800" dirty="0"/>
          </a:p>
          <a:p>
            <a:pPr marL="0" indent="0">
              <a:buNone/>
            </a:pPr>
            <a:r>
              <a:rPr lang="en-US" b="1" dirty="0"/>
              <a:t>Conclusion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There is a missing layer between tools and execution</a:t>
            </a:r>
          </a:p>
        </p:txBody>
      </p:sp>
    </p:spTree>
    <p:extLst>
      <p:ext uri="{BB962C8B-B14F-4D97-AF65-F5344CB8AC3E}">
        <p14:creationId xmlns:p14="http://schemas.microsoft.com/office/powerpoint/2010/main" val="3796130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41" y="121185"/>
            <a:ext cx="10620260" cy="1002535"/>
          </a:xfrm>
        </p:spPr>
        <p:txBody>
          <a:bodyPr/>
          <a:lstStyle/>
          <a:p>
            <a:r>
              <a:rPr lang="en-US" dirty="0"/>
              <a:t>Agent Skills</a:t>
            </a:r>
            <a:endParaRPr lang="en-US" b="1" dirty="0"/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C840BBAD-1570-42A2-BE9A-391AF0EBF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2227" y="5674830"/>
            <a:ext cx="9334974" cy="1061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094F146-AF66-ADA9-38EB-BEEEC2687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477" y="4003220"/>
            <a:ext cx="7082276" cy="151532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781BB5F-A8AF-017D-F5DC-A95A15F68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027" y="3039129"/>
            <a:ext cx="7249537" cy="88594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D8692D8-AB0E-C14C-6D37-F786AAD17739}"/>
              </a:ext>
            </a:extLst>
          </p:cNvPr>
          <p:cNvSpPr txBox="1"/>
          <p:nvPr/>
        </p:nvSpPr>
        <p:spPr>
          <a:xfrm>
            <a:off x="388144" y="1173787"/>
            <a:ext cx="791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而就在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12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月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18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日，</a:t>
            </a:r>
            <a:r>
              <a:rPr lang="en-US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6"/>
              </a:rPr>
              <a:t>Anthropic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把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Agent Skills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作为开放的标准，发布了相应的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specification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，以便让任何的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AI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平台可以集成：</a:t>
            </a:r>
          </a:p>
          <a:p>
            <a:pPr algn="l">
              <a:buNone/>
            </a:pPr>
            <a:r>
              <a:rPr lang="en-US" altLang="zh-CN" b="0" i="0" u="none" strike="noStrike" dirty="0">
                <a:solidFill>
                  <a:srgbClr val="09408E"/>
                </a:solidFill>
                <a:effectLst/>
                <a:latin typeface="a"/>
                <a:hlinkClick r:id="rId7"/>
              </a:rPr>
              <a:t>https://</a:t>
            </a:r>
            <a:r>
              <a:rPr lang="en-US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7"/>
              </a:rPr>
              <a:t>agentskills.io/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4720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E8093-5CE7-FB9C-F62F-04C32A72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49E6-0838-0193-44D4-B8E4DB723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41" y="121185"/>
            <a:ext cx="10620260" cy="1002535"/>
          </a:xfrm>
        </p:spPr>
        <p:txBody>
          <a:bodyPr/>
          <a:lstStyle/>
          <a:p>
            <a:r>
              <a:rPr lang="en-US" dirty="0"/>
              <a:t>Agent Skills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3157C-AFB5-21AA-6D46-179D18263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41" y="1123720"/>
            <a:ext cx="5844518" cy="54533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/>
              <a:t>What Are Agent Skills?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Reusable, structured definitions of </a:t>
            </a:r>
            <a:r>
              <a:rPr lang="en-US" sz="2100" i="1" dirty="0"/>
              <a:t>how</a:t>
            </a:r>
            <a:r>
              <a:rPr lang="en-US" sz="2100" dirty="0"/>
              <a:t> to perform a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Encode expert knowledge, best practices, and constraints</a:t>
            </a:r>
          </a:p>
          <a:p>
            <a:pPr marL="0" indent="0">
              <a:buNone/>
            </a:pPr>
            <a:r>
              <a:rPr lang="en-US" sz="2600" b="1" dirty="0"/>
              <a:t>What Skills Contain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Task-specific workflows and step ordering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Decision rules and guardrails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Output structure and quality standards</a:t>
            </a:r>
          </a:p>
          <a:p>
            <a:pPr marL="0" indent="0">
              <a:buNone/>
            </a:pPr>
            <a:r>
              <a:rPr lang="en-US" sz="2600" b="1" dirty="0"/>
              <a:t>What Skills Are NOT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Not APIs or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Not executable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Not one-off prompts</a:t>
            </a:r>
          </a:p>
          <a:p>
            <a:pPr marL="0" indent="0">
              <a:buNone/>
            </a:pPr>
            <a:r>
              <a:rPr lang="en-US" sz="2600" b="1" dirty="0"/>
              <a:t>Role in the Architecture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Skills guide </a:t>
            </a:r>
            <a:r>
              <a:rPr lang="en-US" sz="1900" i="1" dirty="0"/>
              <a:t>behavior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Tools execute </a:t>
            </a:r>
            <a:r>
              <a:rPr lang="en-US" sz="1900" i="1" dirty="0"/>
              <a:t>actions</a:t>
            </a: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83E6F-C474-1F30-996F-CFCFD4C5E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022" y="280930"/>
            <a:ext cx="6444978" cy="3655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58F95-C5B4-3D22-C12C-1BBBB3A6C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018" y="4020208"/>
            <a:ext cx="3428281" cy="2716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D8942C-917B-83B4-12D3-AFCCF9394C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838" y="4020207"/>
            <a:ext cx="4179395" cy="271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4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7972-FBB4-8FCD-6C28-2F3AD26E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7" y="145207"/>
            <a:ext cx="10515600" cy="942814"/>
          </a:xfrm>
        </p:spPr>
        <p:txBody>
          <a:bodyPr/>
          <a:lstStyle/>
          <a:p>
            <a:r>
              <a:rPr lang="en-US" dirty="0"/>
              <a:t>how-to-create-custom-skills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FA81F-7749-855E-239D-3DCCE43C7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92249"/>
            <a:ext cx="4952000" cy="2871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F97406-E1ED-A747-AA20-E154D68D55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613" y="1214369"/>
            <a:ext cx="7122387" cy="442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53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29" y="121185"/>
            <a:ext cx="10620260" cy="1002535"/>
          </a:xfrm>
        </p:spPr>
        <p:txBody>
          <a:bodyPr/>
          <a:lstStyle/>
          <a:p>
            <a:r>
              <a:rPr lang="en-US" dirty="0"/>
              <a:t>How Skills Fit Together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90BB-55E5-57DA-4C95-3C456F9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29" y="1123721"/>
            <a:ext cx="10939749" cy="5453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Layered Architecture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Function Calls: execute 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MCP: connect tools and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Agent Skills: define expert behavior</a:t>
            </a:r>
          </a:p>
          <a:p>
            <a:pPr marL="0" indent="0">
              <a:buNone/>
            </a:pPr>
            <a:r>
              <a:rPr lang="en-US" b="1" dirty="0"/>
              <a:t>Simple Analogy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Tools = hands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MCP = toolbox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Skills = instructions from a senior expert</a:t>
            </a:r>
          </a:p>
        </p:txBody>
      </p:sp>
    </p:spTree>
    <p:extLst>
      <p:ext uri="{BB962C8B-B14F-4D97-AF65-F5344CB8AC3E}">
        <p14:creationId xmlns:p14="http://schemas.microsoft.com/office/powerpoint/2010/main" val="1447289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29" y="121185"/>
            <a:ext cx="10620260" cy="1002535"/>
          </a:xfrm>
        </p:spPr>
        <p:txBody>
          <a:bodyPr/>
          <a:lstStyle/>
          <a:p>
            <a:r>
              <a:rPr lang="en-US" dirty="0"/>
              <a:t>Use Case 1: Weekly Status Reports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90BB-55E5-57DA-4C95-3C456F9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29" y="1123721"/>
            <a:ext cx="10939749" cy="5453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Without Skills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Inconsistent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Raw data dumping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Variable tone and quality</a:t>
            </a:r>
          </a:p>
          <a:p>
            <a:pPr marL="0" indent="0">
              <a:buNone/>
            </a:pPr>
            <a:r>
              <a:rPr lang="en-US" b="1" dirty="0"/>
              <a:t>With Skills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Standardized report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Clear summaries and priorities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Consistent, professional output</a:t>
            </a:r>
          </a:p>
          <a:p>
            <a:pPr marL="0" indent="0">
              <a:buNone/>
            </a:pPr>
            <a:r>
              <a:rPr lang="en-US" b="1" dirty="0"/>
              <a:t>Skill Defines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What data to include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to summarize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to structure the report</a:t>
            </a:r>
          </a:p>
        </p:txBody>
      </p:sp>
    </p:spTree>
    <p:extLst>
      <p:ext uri="{BB962C8B-B14F-4D97-AF65-F5344CB8AC3E}">
        <p14:creationId xmlns:p14="http://schemas.microsoft.com/office/powerpoint/2010/main" val="192391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29" y="121185"/>
            <a:ext cx="10620260" cy="1002535"/>
          </a:xfrm>
        </p:spPr>
        <p:txBody>
          <a:bodyPr/>
          <a:lstStyle/>
          <a:p>
            <a:r>
              <a:rPr lang="en-US" dirty="0"/>
              <a:t>Use Case 2: Code Review Agent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90BB-55E5-57DA-4C95-3C456F9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29" y="1123721"/>
            <a:ext cx="10939749" cy="5453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Superficial or inconsistent reviews</a:t>
            </a:r>
          </a:p>
          <a:p>
            <a:pPr marL="0" indent="0">
              <a:buNone/>
            </a:pPr>
            <a:r>
              <a:rPr lang="en-US" b="1" dirty="0"/>
              <a:t>Skill Enables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Ordered review process (correctness → security → performance)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Consistent feedback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Senior-engineer-level checklist</a:t>
            </a:r>
          </a:p>
          <a:p>
            <a:pPr marL="0" indent="0">
              <a:buNone/>
            </a:pPr>
            <a:r>
              <a:rPr lang="en-US" b="1" dirty="0"/>
              <a:t>Result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Higher quality and more reliable code reviews</a:t>
            </a:r>
          </a:p>
        </p:txBody>
      </p:sp>
    </p:spTree>
    <p:extLst>
      <p:ext uri="{BB962C8B-B14F-4D97-AF65-F5344CB8AC3E}">
        <p14:creationId xmlns:p14="http://schemas.microsoft.com/office/powerpoint/2010/main" val="314984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1894-7E53-E454-1719-4FABDC44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81" y="42129"/>
            <a:ext cx="7479982" cy="1325563"/>
          </a:xfrm>
        </p:spPr>
        <p:txBody>
          <a:bodyPr/>
          <a:lstStyle/>
          <a:p>
            <a:r>
              <a:rPr lang="en-US" dirty="0"/>
              <a:t>Use Case 2: Code Review Agent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CC019-767D-A959-104F-CBD111AC6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16" y="141222"/>
            <a:ext cx="3837579" cy="66746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510D90-BDE1-2842-7FE2-92D221C22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187" y="2977080"/>
            <a:ext cx="4717625" cy="3742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23DBA2-7042-02F3-16CE-A4262E81E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43" y="1549481"/>
            <a:ext cx="5900351" cy="133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17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29" y="121185"/>
            <a:ext cx="10620260" cy="1002535"/>
          </a:xfrm>
        </p:spPr>
        <p:txBody>
          <a:bodyPr/>
          <a:lstStyle/>
          <a:p>
            <a:r>
              <a:rPr lang="en-US" dirty="0"/>
              <a:t>Use Case </a:t>
            </a:r>
            <a:r>
              <a:rPr lang="en-US" altLang="zh-CN" dirty="0"/>
              <a:t>3</a:t>
            </a:r>
            <a:r>
              <a:rPr lang="en-US" dirty="0"/>
              <a:t>: Customer Support &amp; Compliance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90BB-55E5-57DA-4C95-3C456F9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29" y="1123721"/>
            <a:ext cx="10939749" cy="5453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Skill Encodes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Business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Legal and compliance boundaries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Approved communication tone</a:t>
            </a:r>
          </a:p>
          <a:p>
            <a:pPr marL="0" indent="0">
              <a:buNone/>
            </a:pPr>
            <a:r>
              <a:rPr lang="en-US" b="1" dirty="0"/>
              <a:t>Outcome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Safer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Reduced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Predictable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4221793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CE15-A79B-3709-8F57-35D4CFF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29" y="121185"/>
            <a:ext cx="10620260" cy="1002535"/>
          </a:xfrm>
        </p:spPr>
        <p:txBody>
          <a:bodyPr/>
          <a:lstStyle/>
          <a:p>
            <a:r>
              <a:rPr lang="en-US" dirty="0"/>
              <a:t>Key Takeaways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90BB-55E5-57DA-4C95-3C456F9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29" y="1123721"/>
            <a:ext cx="10939749" cy="5453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Summary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Function Calls enable 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MCP standardizes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Agent Skills define </a:t>
            </a:r>
            <a:r>
              <a:rPr lang="en-US" sz="1800" i="1" dirty="0"/>
              <a:t>expert behavior</a:t>
            </a:r>
            <a:endParaRPr lang="en-US" sz="1800" dirty="0"/>
          </a:p>
          <a:p>
            <a:pPr marL="0" indent="0">
              <a:buNone/>
            </a:pPr>
            <a:r>
              <a:rPr lang="en-US" b="1" dirty="0"/>
              <a:t>Core Message</a:t>
            </a:r>
            <a:endParaRPr lang="en-US" dirty="0"/>
          </a:p>
          <a:p>
            <a:r>
              <a:rPr lang="en-US" sz="1800" dirty="0"/>
              <a:t>Tools tell agents </a:t>
            </a:r>
            <a:r>
              <a:rPr lang="en-US" sz="1800" i="1" dirty="0"/>
              <a:t>what they can do</a:t>
            </a:r>
          </a:p>
          <a:p>
            <a:r>
              <a:rPr lang="en-US" sz="1800" dirty="0"/>
              <a:t>Skills tell agents </a:t>
            </a:r>
            <a:r>
              <a:rPr lang="en-US" sz="1800" i="1" dirty="0"/>
              <a:t>how they should do it</a:t>
            </a:r>
            <a:endParaRPr lang="en-US" sz="1800" dirty="0"/>
          </a:p>
          <a:p>
            <a:pPr marL="0" indent="0">
              <a:buNone/>
            </a:pPr>
            <a:r>
              <a:rPr lang="en-US" b="1" dirty="0"/>
              <a:t>Why Skills Matter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Reusability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Scalability of expertise</a:t>
            </a:r>
          </a:p>
        </p:txBody>
      </p:sp>
    </p:spTree>
    <p:extLst>
      <p:ext uri="{BB962C8B-B14F-4D97-AF65-F5344CB8AC3E}">
        <p14:creationId xmlns:p14="http://schemas.microsoft.com/office/powerpoint/2010/main" val="203033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4FDF-BA64-54E7-140E-21C8F8B6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54D68-E177-7A67-67A1-094D9C0BF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96515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AAEC-4C0D-0E42-CE71-83359388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D3114-4D77-73BE-A59D-B84562854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63724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3F157-E60A-D2D0-4547-64C4B509E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89F7-1669-7062-AEF6-CE25D10EE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6105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9FAD9-8431-9BC1-DAB2-08BBA8D7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3CE46-4441-337F-0D98-6356B7DEC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30187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FD99-6F5B-2528-12A8-6DEEAB57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Why Agent Skills?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41E46-276F-944E-B54B-DCF406BD9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21524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D022-2A65-9D86-F207-456EE96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Agent skills</a:t>
            </a:r>
            <a:r>
              <a:rPr lang="zh-CN" altLang="en-US" dirty="0"/>
              <a:t>和 </a:t>
            </a:r>
            <a:r>
              <a:rPr lang="en-US" dirty="0"/>
              <a:t>Function / MCP </a:t>
            </a:r>
            <a:r>
              <a:rPr lang="zh-CN" altLang="en-US" dirty="0"/>
              <a:t>的清晰分工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B8BE-02C4-C537-BD56-23EF5B7BF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Skill</a:t>
            </a:r>
          </a:p>
          <a:p>
            <a:pPr marL="0" indent="0">
              <a:buNone/>
            </a:pPr>
            <a:r>
              <a:rPr lang="en-US" dirty="0"/>
              <a:t> ├─ </a:t>
            </a:r>
            <a:r>
              <a:rPr lang="zh-CN" altLang="en-US" dirty="0"/>
              <a:t>决定“怎么做”</a:t>
            </a:r>
          </a:p>
          <a:p>
            <a:pPr marL="0" indent="0">
              <a:buNone/>
            </a:pPr>
            <a:r>
              <a:rPr lang="zh-CN" altLang="en-US" dirty="0"/>
              <a:t> ├─ 约束输出结构</a:t>
            </a:r>
          </a:p>
          <a:p>
            <a:pPr marL="0" indent="0">
              <a:buNone/>
            </a:pPr>
            <a:r>
              <a:rPr lang="zh-CN" altLang="en-US" dirty="0"/>
              <a:t> └─ 统一质量标准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dirty="0"/>
              <a:t>MCP</a:t>
            </a:r>
          </a:p>
          <a:p>
            <a:pPr marL="0" indent="0">
              <a:buNone/>
            </a:pPr>
            <a:r>
              <a:rPr lang="en-US" dirty="0"/>
              <a:t> ├─ </a:t>
            </a:r>
            <a:r>
              <a:rPr lang="zh-CN" altLang="en-US" dirty="0"/>
              <a:t>提供 </a:t>
            </a:r>
            <a:r>
              <a:rPr lang="en-US" dirty="0"/>
              <a:t>Git / Jira / DB </a:t>
            </a:r>
            <a:r>
              <a:rPr lang="zh-CN" altLang="en-US" dirty="0"/>
              <a:t>访问</a:t>
            </a:r>
          </a:p>
          <a:p>
            <a:pPr marL="0" indent="0">
              <a:buNone/>
            </a:pPr>
            <a:r>
              <a:rPr lang="zh-CN" altLang="en-US" dirty="0"/>
              <a:t> └─ 安全 </a:t>
            </a:r>
            <a:r>
              <a:rPr lang="en-US" altLang="zh-CN" dirty="0"/>
              <a:t>&amp; </a:t>
            </a:r>
            <a:r>
              <a:rPr lang="zh-CN" altLang="en-US" dirty="0"/>
              <a:t>标准化连接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dirty="0"/>
              <a:t>Function Call</a:t>
            </a:r>
          </a:p>
          <a:p>
            <a:pPr marL="0" indent="0">
              <a:buNone/>
            </a:pPr>
            <a:r>
              <a:rPr lang="en-US" dirty="0"/>
              <a:t> ├─ </a:t>
            </a:r>
            <a:r>
              <a:rPr lang="en-US" dirty="0" err="1"/>
              <a:t>fetch_commits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├─ </a:t>
            </a:r>
            <a:r>
              <a:rPr lang="en-US" dirty="0" err="1"/>
              <a:t>fetch_issues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└─ </a:t>
            </a:r>
            <a:r>
              <a:rPr lang="en-US" dirty="0" err="1"/>
              <a:t>send_email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78101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D62-4457-E1B2-1154-340A3E99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Usecases with Agent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1BDF0-856E-EC02-D263-38E8DEEEE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weekly_status_report</a:t>
            </a:r>
            <a:endParaRPr lang="en-US" dirty="0"/>
          </a:p>
          <a:p>
            <a:r>
              <a:rPr lang="en-US" dirty="0" err="1"/>
              <a:t>code_review_backend</a:t>
            </a:r>
            <a:endParaRPr lang="en-US" dirty="0"/>
          </a:p>
          <a:p>
            <a:r>
              <a:rPr lang="en-US" dirty="0" err="1"/>
              <a:t>data_analysis_basic</a:t>
            </a:r>
            <a:endParaRPr lang="en-US" dirty="0"/>
          </a:p>
          <a:p>
            <a:pPr marL="0" indent="0">
              <a:buNone/>
            </a:pPr>
            <a:r>
              <a:rPr lang="en-CN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1736207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1894-7E53-E454-1719-4FABDC44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81" y="42129"/>
            <a:ext cx="10515600" cy="13255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Usecase</a:t>
            </a:r>
            <a:r>
              <a:rPr lang="en-US" dirty="0"/>
              <a:t> of Agent Skills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CC019-767D-A959-104F-CBD111AC6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16" y="141222"/>
            <a:ext cx="3837579" cy="66746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510D90-BDE1-2842-7FE2-92D221C22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187" y="2977080"/>
            <a:ext cx="4717625" cy="3742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23DBA2-7042-02F3-16CE-A4262E81E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43" y="1549481"/>
            <a:ext cx="5900351" cy="133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08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561B-6F67-50D5-8A85-E0E9B831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</a:t>
            </a:r>
            <a:r>
              <a:rPr lang="zh-CN" altLang="en-US" dirty="0"/>
              <a:t>实际怎么用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D1E13-AC0B-0FCE-10E3-66CF27235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733800" cy="3215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用户：帮我 </a:t>
            </a:r>
            <a:r>
              <a:rPr lang="en-US" sz="1400" dirty="0"/>
              <a:t>review </a:t>
            </a:r>
            <a:r>
              <a:rPr lang="zh-CN" altLang="en-US" sz="1400" dirty="0"/>
              <a:t>这个 </a:t>
            </a:r>
            <a:r>
              <a:rPr lang="en-US" sz="1400" dirty="0"/>
              <a:t>PR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Agent：</a:t>
            </a:r>
          </a:p>
          <a:p>
            <a:pPr marL="0" indent="0">
              <a:buNone/>
            </a:pPr>
            <a:r>
              <a:rPr lang="en-US" sz="1400" dirty="0"/>
              <a:t>1. </a:t>
            </a:r>
            <a:r>
              <a:rPr lang="zh-CN" altLang="en-US" sz="1400" dirty="0"/>
              <a:t>判断是 </a:t>
            </a:r>
            <a:r>
              <a:rPr lang="en-US" sz="1400" dirty="0"/>
              <a:t>code review</a:t>
            </a:r>
          </a:p>
          <a:p>
            <a:pPr marL="0" indent="0">
              <a:buNone/>
            </a:pPr>
            <a:r>
              <a:rPr lang="en-US" sz="1400" dirty="0"/>
              <a:t>2. </a:t>
            </a:r>
            <a:r>
              <a:rPr lang="zh-CN" altLang="en-US" sz="1400" dirty="0"/>
              <a:t>加载 </a:t>
            </a:r>
            <a:r>
              <a:rPr lang="en-US" sz="1400" dirty="0" err="1"/>
              <a:t>code_review_backend</a:t>
            </a:r>
            <a:r>
              <a:rPr lang="en-US" sz="1400" dirty="0"/>
              <a:t> Skill</a:t>
            </a:r>
          </a:p>
          <a:p>
            <a:pPr marL="0" indent="0">
              <a:buNone/>
            </a:pPr>
            <a:r>
              <a:rPr lang="en-US" sz="1400" dirty="0"/>
              <a:t>3. </a:t>
            </a:r>
            <a:r>
              <a:rPr lang="zh-CN" altLang="en-US" sz="1400" dirty="0"/>
              <a:t>读取 </a:t>
            </a:r>
            <a:r>
              <a:rPr lang="en-US" sz="1400" dirty="0" err="1"/>
              <a:t>instructions.md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4. </a:t>
            </a:r>
            <a:r>
              <a:rPr lang="zh-CN" altLang="en-US" sz="1400" dirty="0"/>
              <a:t>拉 </a:t>
            </a:r>
            <a:r>
              <a:rPr lang="en-US" sz="1400" dirty="0"/>
              <a:t>PR </a:t>
            </a:r>
            <a:r>
              <a:rPr lang="en-US" sz="1400" dirty="0" err="1"/>
              <a:t>diff（MCP</a:t>
            </a:r>
            <a:r>
              <a:rPr lang="en-US" sz="1400" dirty="0"/>
              <a:t> / Tool）</a:t>
            </a:r>
          </a:p>
          <a:p>
            <a:pPr marL="0" indent="0">
              <a:buNone/>
            </a:pPr>
            <a:r>
              <a:rPr lang="en-US" sz="1400" dirty="0"/>
              <a:t>5. </a:t>
            </a:r>
            <a:r>
              <a:rPr lang="zh-CN" altLang="en-US" sz="1400" dirty="0"/>
              <a:t>严格按 </a:t>
            </a:r>
            <a:r>
              <a:rPr lang="en-US" sz="1400" dirty="0"/>
              <a:t>instructions </a:t>
            </a:r>
            <a:r>
              <a:rPr lang="zh-CN" altLang="en-US" sz="1400" dirty="0"/>
              <a:t>生成结果</a:t>
            </a:r>
          </a:p>
          <a:p>
            <a:pPr marL="0" indent="0">
              <a:buNone/>
            </a:pP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485208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ank you text Images - Free Download on Freepik">
            <a:extLst>
              <a:ext uri="{FF2B5EF4-FFF2-40B4-BE49-F238E27FC236}">
                <a16:creationId xmlns:a16="http://schemas.microsoft.com/office/drawing/2014/main" id="{DB094294-E189-EDD9-A001-618EC72A24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548" y="1079176"/>
            <a:ext cx="614501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853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1565</TotalTime>
  <Words>1819</Words>
  <Application>Microsoft Office PowerPoint</Application>
  <PresentationFormat>宽屏</PresentationFormat>
  <Paragraphs>239</Paragraphs>
  <Slides>24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a</vt:lpstr>
      <vt:lpstr>-apple-system</vt:lpstr>
      <vt:lpstr>Arial</vt:lpstr>
      <vt:lpstr>Calibri</vt:lpstr>
      <vt:lpstr>Calibri Light</vt:lpstr>
      <vt:lpstr>Office Theme</vt:lpstr>
      <vt:lpstr>Agent Skills Intro</vt:lpstr>
      <vt:lpstr>Function Calls-- Giving Models the Ability to Act</vt:lpstr>
      <vt:lpstr>Function Calls-- Giving Models the Ability to Act</vt:lpstr>
      <vt:lpstr>MCP-- (Model Context Protocol) Standardizing How Models Connect to the World</vt:lpstr>
      <vt:lpstr>The Problem</vt:lpstr>
      <vt:lpstr>Agent Skills</vt:lpstr>
      <vt:lpstr>Agent Skills</vt:lpstr>
      <vt:lpstr>how-to-create-custom-skills</vt:lpstr>
      <vt:lpstr>How Skills Fit Together</vt:lpstr>
      <vt:lpstr>Use Case 1: Weekly Status Reports</vt:lpstr>
      <vt:lpstr>Use Case 2: Code Review Agent</vt:lpstr>
      <vt:lpstr>Use Case 2: Code Review Agent</vt:lpstr>
      <vt:lpstr>Use Case 3: Customer Support &amp; Compliance</vt:lpstr>
      <vt:lpstr>Key Takeaways</vt:lpstr>
      <vt:lpstr>PowerPoint 演示文稿</vt:lpstr>
      <vt:lpstr>PowerPoint 演示文稿</vt:lpstr>
      <vt:lpstr>PowerPoint 演示文稿</vt:lpstr>
      <vt:lpstr>MCP</vt:lpstr>
      <vt:lpstr>Why Agent Skills?</vt:lpstr>
      <vt:lpstr>Agent skills和 Function / MCP 的清晰分工</vt:lpstr>
      <vt:lpstr>Usecases with Agent Skills</vt:lpstr>
      <vt:lpstr>A Usecase of Agent Skills</vt:lpstr>
      <vt:lpstr>Agent 实际怎么用</vt:lpstr>
      <vt:lpstr>PowerPoint 演示文稿</vt:lpstr>
    </vt:vector>
  </TitlesOfParts>
  <Company>Citi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Liu, Hao Harry [OT-TECH]</dc:creator>
  <cp:lastModifiedBy>浩 刘</cp:lastModifiedBy>
  <cp:revision>129</cp:revision>
  <dcterms:created xsi:type="dcterms:W3CDTF">2024-02-15T09:08:23Z</dcterms:created>
  <dcterms:modified xsi:type="dcterms:W3CDTF">2025-12-28T13:47:05Z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91669d-c62a-41f9-9790-e463798003d8_Enabled">
    <vt:lpwstr>true</vt:lpwstr>
  </property>
  <property fmtid="{D5CDD505-2E9C-101B-9397-08002B2CF9AE}" pid="3" name="MSIP_Label_d291669d-c62a-41f9-9790-e463798003d8_SetDate">
    <vt:lpwstr>2024-02-15T09:08:28Z</vt:lpwstr>
  </property>
  <property fmtid="{D5CDD505-2E9C-101B-9397-08002B2CF9AE}" pid="4" name="MSIP_Label_d291669d-c62a-41f9-9790-e463798003d8_Method">
    <vt:lpwstr>Privileged</vt:lpwstr>
  </property>
  <property fmtid="{D5CDD505-2E9C-101B-9397-08002B2CF9AE}" pid="5" name="MSIP_Label_d291669d-c62a-41f9-9790-e463798003d8_Name">
    <vt:lpwstr>Public</vt:lpwstr>
  </property>
  <property fmtid="{D5CDD505-2E9C-101B-9397-08002B2CF9AE}" pid="6" name="MSIP_Label_d291669d-c62a-41f9-9790-e463798003d8_SiteId">
    <vt:lpwstr>1771ae17-e764-4e0f-a476-d4184d79a5d9</vt:lpwstr>
  </property>
  <property fmtid="{D5CDD505-2E9C-101B-9397-08002B2CF9AE}" pid="7" name="MSIP_Label_d291669d-c62a-41f9-9790-e463798003d8_ActionId">
    <vt:lpwstr>ceda09ee-b1e4-4bcd-ad32-bddc5722253c</vt:lpwstr>
  </property>
  <property fmtid="{D5CDD505-2E9C-101B-9397-08002B2CF9AE}" pid="8" name="MSIP_Label_d291669d-c62a-41f9-9790-e463798003d8_ContentBits">
    <vt:lpwstr>0</vt:lpwstr>
  </property>
</Properties>
</file>